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eb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27"/>
  </p:notesMasterIdLst>
  <p:handoutMasterIdLst>
    <p:handoutMasterId r:id="rId28"/>
  </p:handoutMasterIdLst>
  <p:sldIdLst>
    <p:sldId id="256" r:id="rId2"/>
    <p:sldId id="257" r:id="rId3"/>
    <p:sldId id="297" r:id="rId4"/>
    <p:sldId id="303" r:id="rId5"/>
    <p:sldId id="304" r:id="rId6"/>
    <p:sldId id="305" r:id="rId7"/>
    <p:sldId id="306" r:id="rId8"/>
    <p:sldId id="307" r:id="rId9"/>
    <p:sldId id="310" r:id="rId10"/>
    <p:sldId id="311" r:id="rId11"/>
    <p:sldId id="312" r:id="rId12"/>
    <p:sldId id="313" r:id="rId13"/>
    <p:sldId id="309" r:id="rId14"/>
    <p:sldId id="314" r:id="rId15"/>
    <p:sldId id="316" r:id="rId16"/>
    <p:sldId id="317" r:id="rId17"/>
    <p:sldId id="318" r:id="rId18"/>
    <p:sldId id="263" r:id="rId19"/>
    <p:sldId id="320" r:id="rId20"/>
    <p:sldId id="321" r:id="rId21"/>
    <p:sldId id="322" r:id="rId22"/>
    <p:sldId id="323" r:id="rId23"/>
    <p:sldId id="315" r:id="rId24"/>
    <p:sldId id="277" r:id="rId25"/>
    <p:sldId id="324" r:id="rId26"/>
  </p:sldIdLst>
  <p:sldSz cx="9144000" cy="5143500" type="screen16x9"/>
  <p:notesSz cx="6858000" cy="9144000"/>
  <p:embeddedFontLst>
    <p:embeddedFont>
      <p:font typeface="Andalus" panose="02020603050405020304" pitchFamily="18" charset="-78"/>
      <p:regular r:id="rId29"/>
    </p:embeddedFont>
    <p:embeddedFont>
      <p:font typeface="Bebas Neue" panose="020B0606020202050201" pitchFamily="34" charset="0"/>
      <p:regular r:id="rId30"/>
    </p:embeddedFont>
    <p:embeddedFont>
      <p:font typeface="Cambria Math" panose="02040503050406030204" pitchFamily="18" charset="0"/>
      <p:regular r:id="rId31"/>
    </p:embeddedFont>
    <p:embeddedFont>
      <p:font typeface="Comic Sans MS" panose="030F0702030302020204" pitchFamily="66" charset="0"/>
      <p:regular r:id="rId32"/>
      <p:bold r:id="rId33"/>
      <p:italic r:id="rId34"/>
      <p:boldItalic r:id="rId35"/>
    </p:embeddedFont>
    <p:embeddedFont>
      <p:font typeface="Footlight MT Light" panose="0204060206030A020304" pitchFamily="18" charset="0"/>
      <p:regular r:id="rId36"/>
    </p:embeddedFont>
    <p:embeddedFont>
      <p:font typeface="Inter" panose="020B0604020202020204" charset="0"/>
      <p:regular r:id="rId37"/>
      <p:bold r:id="rId38"/>
    </p:embeddedFont>
    <p:embeddedFont>
      <p:font typeface="Syne" panose="020B0604020202020204" charset="0"/>
      <p:regular r:id="rId39"/>
      <p:bold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D9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A4DA060-36C2-4620-ABD2-74E14AE4DA9D}">
  <a:tblStyle styleId="{7A4DA060-36C2-4620-ABD2-74E14AE4DA9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225153F-0056-4122-A75F-4B31DD5FE30C}"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67" autoAdjust="0"/>
    <p:restoredTop sz="94660"/>
  </p:normalViewPr>
  <p:slideViewPr>
    <p:cSldViewPr snapToGrid="0" showGuides="1">
      <p:cViewPr varScale="1">
        <p:scale>
          <a:sx n="78" d="100"/>
          <a:sy n="78" d="100"/>
        </p:scale>
        <p:origin x="90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424B875-36AE-4AFC-BCA2-ED41A8CFE8E6}" type="datetimeFigureOut">
              <a:rPr lang="fr-FR" smtClean="0"/>
              <a:t>15/05/2024</a:t>
            </a:fld>
            <a:endParaRPr lang="fr-F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424DA1-5732-4FD9-8AAD-E8933D36EDC6}" type="slidenum">
              <a:rPr lang="fr-FR" smtClean="0"/>
              <a:t>‹#›</a:t>
            </a:fld>
            <a:endParaRPr lang="fr-FR"/>
          </a:p>
        </p:txBody>
      </p:sp>
    </p:spTree>
    <p:extLst>
      <p:ext uri="{BB962C8B-B14F-4D97-AF65-F5344CB8AC3E}">
        <p14:creationId xmlns:p14="http://schemas.microsoft.com/office/powerpoint/2010/main" val="280086747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576209114"/>
      </p:ext>
    </p:extLst>
  </p:cSld>
  <p:clrMap bg1="lt1" tx1="dk1" bg2="dk2" tx2="lt2" accent1="accent1" accent2="accent2" accent3="accent3" accent4="accent4" accent5="accent5" accent6="accent6" hlink="hlink" folHlink="folHlink"/>
  <p:hf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2406cdf4d9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2406cdf4d9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224411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10f9e629ec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10f9e629ec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38736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1258269c9b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21258269c9b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002246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1258269c9b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21258269c9b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324484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1258269c9b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21258269c9b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063230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1258269c9b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21258269c9b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19719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1258269c9b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21258269c9b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19087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1258269c9b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21258269c9b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8763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1258269c9b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21258269c9b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748971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1258269c9b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21258269c9b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904167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1258269c9b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21258269c9b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087727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1258269c9b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21258269c9b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52076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1258269c9b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21258269c9b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77216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1258269c9b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21258269c9b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50375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1258269c9b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21258269c9b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102042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1258269c9b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21258269c9b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95291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1258269c9b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21258269c9b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2844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2140bdeee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2140bdeee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73657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1258269c9b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21258269c9b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69446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1258269c9b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21258269c9b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584731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1258269c9b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21258269c9b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24929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1258269c9b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21258269c9b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52581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1258269c9b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21258269c9b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66463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g1105afc42a3_1_8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2" name="Google Shape;592;g1105afc42a3_1_8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6694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1258269c9b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21258269c9b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013378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284000" y="1412542"/>
            <a:ext cx="6576000" cy="1694700"/>
          </a:xfrm>
          <a:prstGeom prst="rect">
            <a:avLst/>
          </a:prstGeom>
        </p:spPr>
        <p:txBody>
          <a:bodyPr spcFirstLastPara="1" wrap="square" lIns="91425" tIns="91425" rIns="91425" bIns="91425" anchor="b" anchorCtr="0">
            <a:noAutofit/>
          </a:bodyPr>
          <a:lstStyle>
            <a:lvl1pPr lvl="0" algn="ctr">
              <a:lnSpc>
                <a:spcPct val="90000"/>
              </a:lnSpc>
              <a:spcBef>
                <a:spcPts val="0"/>
              </a:spcBef>
              <a:spcAft>
                <a:spcPts val="0"/>
              </a:spcAft>
              <a:buClr>
                <a:srgbClr val="191919"/>
              </a:buClr>
              <a:buSzPts val="5200"/>
              <a:buNone/>
              <a:defRPr sz="57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1770950" y="3320850"/>
            <a:ext cx="4201200" cy="4095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6" name="Google Shape;16;p4"/>
          <p:cNvSpPr txBox="1">
            <a:spLocks noGrp="1"/>
          </p:cNvSpPr>
          <p:nvPr>
            <p:ph type="body" idx="1"/>
          </p:nvPr>
        </p:nvSpPr>
        <p:spPr>
          <a:xfrm>
            <a:off x="720000" y="1325725"/>
            <a:ext cx="7704000" cy="26538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rgbClr val="434343"/>
              </a:buClr>
              <a:buSzPts val="1400"/>
              <a:buChar char="●"/>
              <a:defRPr>
                <a:solidFill>
                  <a:srgbClr val="434343"/>
                </a:solidFill>
              </a:defRPr>
            </a:lvl1pPr>
            <a:lvl2pPr marL="914400" lvl="1" indent="-304800" rtl="0">
              <a:lnSpc>
                <a:spcPct val="115000"/>
              </a:lnSpc>
              <a:spcBef>
                <a:spcPts val="0"/>
              </a:spcBef>
              <a:spcAft>
                <a:spcPts val="0"/>
              </a:spcAft>
              <a:buClr>
                <a:srgbClr val="434343"/>
              </a:buClr>
              <a:buSzPts val="1200"/>
              <a:buChar char="○"/>
              <a:defRPr>
                <a:solidFill>
                  <a:srgbClr val="434343"/>
                </a:solidFill>
              </a:defRPr>
            </a:lvl2pPr>
            <a:lvl3pPr marL="1371600" lvl="2" indent="-304800" rtl="0">
              <a:lnSpc>
                <a:spcPct val="115000"/>
              </a:lnSpc>
              <a:spcBef>
                <a:spcPts val="0"/>
              </a:spcBef>
              <a:spcAft>
                <a:spcPts val="0"/>
              </a:spcAft>
              <a:buClr>
                <a:srgbClr val="434343"/>
              </a:buClr>
              <a:buSzPts val="1200"/>
              <a:buChar char="■"/>
              <a:defRPr>
                <a:solidFill>
                  <a:srgbClr val="434343"/>
                </a:solidFill>
              </a:defRPr>
            </a:lvl3pPr>
            <a:lvl4pPr marL="1828800" lvl="3" indent="-304800" rtl="0">
              <a:lnSpc>
                <a:spcPct val="115000"/>
              </a:lnSpc>
              <a:spcBef>
                <a:spcPts val="0"/>
              </a:spcBef>
              <a:spcAft>
                <a:spcPts val="0"/>
              </a:spcAft>
              <a:buClr>
                <a:srgbClr val="434343"/>
              </a:buClr>
              <a:buSzPts val="1200"/>
              <a:buChar char="●"/>
              <a:defRPr>
                <a:solidFill>
                  <a:srgbClr val="434343"/>
                </a:solidFill>
              </a:defRPr>
            </a:lvl4pPr>
            <a:lvl5pPr marL="2286000" lvl="4" indent="-304800" rtl="0">
              <a:lnSpc>
                <a:spcPct val="115000"/>
              </a:lnSpc>
              <a:spcBef>
                <a:spcPts val="0"/>
              </a:spcBef>
              <a:spcAft>
                <a:spcPts val="0"/>
              </a:spcAft>
              <a:buClr>
                <a:srgbClr val="434343"/>
              </a:buClr>
              <a:buSzPts val="1200"/>
              <a:buChar char="○"/>
              <a:defRPr>
                <a:solidFill>
                  <a:srgbClr val="434343"/>
                </a:solidFill>
              </a:defRPr>
            </a:lvl5pPr>
            <a:lvl6pPr marL="2743200" lvl="5" indent="-304800" rtl="0">
              <a:lnSpc>
                <a:spcPct val="115000"/>
              </a:lnSpc>
              <a:spcBef>
                <a:spcPts val="0"/>
              </a:spcBef>
              <a:spcAft>
                <a:spcPts val="0"/>
              </a:spcAft>
              <a:buClr>
                <a:srgbClr val="434343"/>
              </a:buClr>
              <a:buSzPts val="1200"/>
              <a:buChar char="■"/>
              <a:defRPr>
                <a:solidFill>
                  <a:srgbClr val="434343"/>
                </a:solidFill>
              </a:defRPr>
            </a:lvl6pPr>
            <a:lvl7pPr marL="3200400" lvl="6" indent="-304800" rtl="0">
              <a:lnSpc>
                <a:spcPct val="115000"/>
              </a:lnSpc>
              <a:spcBef>
                <a:spcPts val="0"/>
              </a:spcBef>
              <a:spcAft>
                <a:spcPts val="0"/>
              </a:spcAft>
              <a:buClr>
                <a:srgbClr val="434343"/>
              </a:buClr>
              <a:buSzPts val="1200"/>
              <a:buChar char="●"/>
              <a:defRPr>
                <a:solidFill>
                  <a:srgbClr val="434343"/>
                </a:solidFill>
              </a:defRPr>
            </a:lvl7pPr>
            <a:lvl8pPr marL="3657600" lvl="7" indent="-304800" rtl="0">
              <a:lnSpc>
                <a:spcPct val="115000"/>
              </a:lnSpc>
              <a:spcBef>
                <a:spcPts val="0"/>
              </a:spcBef>
              <a:spcAft>
                <a:spcPts val="0"/>
              </a:spcAft>
              <a:buClr>
                <a:srgbClr val="434343"/>
              </a:buClr>
              <a:buSzPts val="1200"/>
              <a:buChar char="○"/>
              <a:defRPr>
                <a:solidFill>
                  <a:srgbClr val="434343"/>
                </a:solidFill>
              </a:defRPr>
            </a:lvl8pPr>
            <a:lvl9pPr marL="4114800" lvl="8" indent="-304800" rtl="0">
              <a:lnSpc>
                <a:spcPct val="115000"/>
              </a:lnSpc>
              <a:spcBef>
                <a:spcPts val="0"/>
              </a:spcBef>
              <a:spcAft>
                <a:spcPts val="0"/>
              </a:spcAft>
              <a:buClr>
                <a:srgbClr val="434343"/>
              </a:buClr>
              <a:buSzPts val="1200"/>
              <a:buChar char="■"/>
              <a:defRPr>
                <a:solidFill>
                  <a:srgbClr val="434343"/>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3"/>
        <p:cNvGrpSpPr/>
        <p:nvPr/>
      </p:nvGrpSpPr>
      <p:grpSpPr>
        <a:xfrm>
          <a:off x="0" y="0"/>
          <a:ext cx="0" cy="0"/>
          <a:chOff x="0" y="0"/>
          <a:chExt cx="0" cy="0"/>
        </a:xfrm>
      </p:grpSpPr>
      <p:sp>
        <p:nvSpPr>
          <p:cNvPr id="24" name="Google Shape;24;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2724150" y="1307100"/>
            <a:ext cx="36957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1"/>
        <p:cNvGrpSpPr/>
        <p:nvPr/>
      </p:nvGrpSpPr>
      <p:grpSpPr>
        <a:xfrm>
          <a:off x="0" y="0"/>
          <a:ext cx="0" cy="0"/>
          <a:chOff x="0" y="0"/>
          <a:chExt cx="0" cy="0"/>
        </a:xfrm>
      </p:grpSpPr>
      <p:sp>
        <p:nvSpPr>
          <p:cNvPr id="32" name="Google Shape;32;p9"/>
          <p:cNvSpPr txBox="1">
            <a:spLocks noGrp="1"/>
          </p:cNvSpPr>
          <p:nvPr>
            <p:ph type="title"/>
          </p:nvPr>
        </p:nvSpPr>
        <p:spPr>
          <a:xfrm>
            <a:off x="2201850" y="1584874"/>
            <a:ext cx="4740300" cy="841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3" name="Google Shape;33;p9"/>
          <p:cNvSpPr txBox="1">
            <a:spLocks noGrp="1"/>
          </p:cNvSpPr>
          <p:nvPr>
            <p:ph type="subTitle" idx="1"/>
          </p:nvPr>
        </p:nvSpPr>
        <p:spPr>
          <a:xfrm>
            <a:off x="2201925" y="2427926"/>
            <a:ext cx="4740300" cy="113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4"/>
        <p:cNvGrpSpPr/>
        <p:nvPr/>
      </p:nvGrpSpPr>
      <p:grpSpPr>
        <a:xfrm>
          <a:off x="0" y="0"/>
          <a:ext cx="0" cy="0"/>
          <a:chOff x="0" y="0"/>
          <a:chExt cx="0" cy="0"/>
        </a:xfrm>
      </p:grpSpPr>
      <p:sp>
        <p:nvSpPr>
          <p:cNvPr id="35" name="Google Shape;35;p10"/>
          <p:cNvSpPr>
            <a:spLocks noGrp="1"/>
          </p:cNvSpPr>
          <p:nvPr>
            <p:ph type="pic" idx="2"/>
          </p:nvPr>
        </p:nvSpPr>
        <p:spPr>
          <a:xfrm>
            <a:off x="-6875" y="0"/>
            <a:ext cx="9144000" cy="5157300"/>
          </a:xfrm>
          <a:prstGeom prst="rect">
            <a:avLst/>
          </a:prstGeom>
          <a:noFill/>
          <a:ln>
            <a:noFill/>
          </a:ln>
        </p:spPr>
      </p:sp>
      <p:sp>
        <p:nvSpPr>
          <p:cNvPr id="36" name="Google Shape;36;p10"/>
          <p:cNvSpPr txBox="1">
            <a:spLocks noGrp="1"/>
          </p:cNvSpPr>
          <p:nvPr>
            <p:ph type="title"/>
          </p:nvPr>
        </p:nvSpPr>
        <p:spPr>
          <a:xfrm>
            <a:off x="720000" y="4038000"/>
            <a:ext cx="7704000" cy="572700"/>
          </a:xfrm>
          <a:prstGeom prst="rect">
            <a:avLst/>
          </a:prstGeom>
          <a:solidFill>
            <a:schemeClr val="accent2"/>
          </a:solidFill>
        </p:spPr>
        <p:txBody>
          <a:bodyPr spcFirstLastPara="1" wrap="square" lIns="91425" tIns="91425" rIns="91425" bIns="91425" anchor="ctr" anchorCtr="0">
            <a:noAutofit/>
          </a:bodyPr>
          <a:lstStyle>
            <a:lvl1pPr lvl="0" algn="ctr" rtl="0">
              <a:spcBef>
                <a:spcPts val="0"/>
              </a:spcBef>
              <a:spcAft>
                <a:spcPts val="0"/>
              </a:spcAft>
              <a:buSzPts val="3400"/>
              <a:buNone/>
              <a:defRPr>
                <a:solidFill>
                  <a:schemeClr val="lt1"/>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dk2"/>
        </a:solidFill>
        <a:effectLst/>
      </p:bgPr>
    </p:bg>
    <p:spTree>
      <p:nvGrpSpPr>
        <p:cNvPr id="1" name="Shape 41"/>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76"/>
        <p:cNvGrpSpPr/>
        <p:nvPr/>
      </p:nvGrpSpPr>
      <p:grpSpPr>
        <a:xfrm>
          <a:off x="0" y="0"/>
          <a:ext cx="0" cy="0"/>
          <a:chOff x="0" y="0"/>
          <a:chExt cx="0" cy="0"/>
        </a:xfrm>
      </p:grpSpPr>
      <p:sp>
        <p:nvSpPr>
          <p:cNvPr id="77" name="Google Shape;77;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8" name="Google Shape;78;p17"/>
          <p:cNvSpPr txBox="1">
            <a:spLocks noGrp="1"/>
          </p:cNvSpPr>
          <p:nvPr>
            <p:ph type="subTitle" idx="1"/>
          </p:nvPr>
        </p:nvSpPr>
        <p:spPr>
          <a:xfrm>
            <a:off x="1504025" y="1285150"/>
            <a:ext cx="2880000" cy="5259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300">
                <a:solidFill>
                  <a:schemeClr val="dk1"/>
                </a:solidFill>
                <a:latin typeface="Syne"/>
                <a:ea typeface="Syne"/>
                <a:cs typeface="Syne"/>
                <a:sym typeface="Sy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79" name="Google Shape;79;p17"/>
          <p:cNvSpPr txBox="1">
            <a:spLocks noGrp="1"/>
          </p:cNvSpPr>
          <p:nvPr>
            <p:ph type="subTitle" idx="2"/>
          </p:nvPr>
        </p:nvSpPr>
        <p:spPr>
          <a:xfrm>
            <a:off x="1504026" y="1811050"/>
            <a:ext cx="28800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0" name="Google Shape;80;p17"/>
          <p:cNvSpPr txBox="1">
            <a:spLocks noGrp="1"/>
          </p:cNvSpPr>
          <p:nvPr>
            <p:ph type="subTitle" idx="3"/>
          </p:nvPr>
        </p:nvSpPr>
        <p:spPr>
          <a:xfrm>
            <a:off x="5548905" y="1811050"/>
            <a:ext cx="28800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1" name="Google Shape;81;p17"/>
          <p:cNvSpPr txBox="1">
            <a:spLocks noGrp="1"/>
          </p:cNvSpPr>
          <p:nvPr>
            <p:ph type="subTitle" idx="4"/>
          </p:nvPr>
        </p:nvSpPr>
        <p:spPr>
          <a:xfrm>
            <a:off x="1504026" y="3442625"/>
            <a:ext cx="28800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2" name="Google Shape;82;p17"/>
          <p:cNvSpPr txBox="1">
            <a:spLocks noGrp="1"/>
          </p:cNvSpPr>
          <p:nvPr>
            <p:ph type="subTitle" idx="5"/>
          </p:nvPr>
        </p:nvSpPr>
        <p:spPr>
          <a:xfrm>
            <a:off x="5548905" y="3442625"/>
            <a:ext cx="28800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3" name="Google Shape;83;p17"/>
          <p:cNvSpPr txBox="1">
            <a:spLocks noGrp="1"/>
          </p:cNvSpPr>
          <p:nvPr>
            <p:ph type="subTitle" idx="6"/>
          </p:nvPr>
        </p:nvSpPr>
        <p:spPr>
          <a:xfrm>
            <a:off x="1504025" y="2916725"/>
            <a:ext cx="2880000" cy="5259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300">
                <a:solidFill>
                  <a:schemeClr val="dk1"/>
                </a:solidFill>
                <a:latin typeface="Syne"/>
                <a:ea typeface="Syne"/>
                <a:cs typeface="Syne"/>
                <a:sym typeface="Sy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84" name="Google Shape;84;p17"/>
          <p:cNvSpPr txBox="1">
            <a:spLocks noGrp="1"/>
          </p:cNvSpPr>
          <p:nvPr>
            <p:ph type="subTitle" idx="7"/>
          </p:nvPr>
        </p:nvSpPr>
        <p:spPr>
          <a:xfrm>
            <a:off x="5548903" y="1285150"/>
            <a:ext cx="2880000" cy="5259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300">
                <a:solidFill>
                  <a:schemeClr val="dk1"/>
                </a:solidFill>
                <a:latin typeface="Syne"/>
                <a:ea typeface="Syne"/>
                <a:cs typeface="Syne"/>
                <a:sym typeface="Sy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85" name="Google Shape;85;p17"/>
          <p:cNvSpPr txBox="1">
            <a:spLocks noGrp="1"/>
          </p:cNvSpPr>
          <p:nvPr>
            <p:ph type="subTitle" idx="8"/>
          </p:nvPr>
        </p:nvSpPr>
        <p:spPr>
          <a:xfrm>
            <a:off x="5548903" y="2916725"/>
            <a:ext cx="2880000" cy="5259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300">
                <a:solidFill>
                  <a:schemeClr val="dk1"/>
                </a:solidFill>
                <a:latin typeface="Syne"/>
                <a:ea typeface="Syne"/>
                <a:cs typeface="Syne"/>
                <a:sym typeface="Syn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86"/>
        <p:cNvGrpSpPr/>
        <p:nvPr/>
      </p:nvGrpSpPr>
      <p:grpSpPr>
        <a:xfrm>
          <a:off x="0" y="0"/>
          <a:ext cx="0" cy="0"/>
          <a:chOff x="0" y="0"/>
          <a:chExt cx="0" cy="0"/>
        </a:xfrm>
      </p:grpSpPr>
      <p:sp>
        <p:nvSpPr>
          <p:cNvPr id="87" name="Google Shape;87;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8" name="Google Shape;88;p18"/>
          <p:cNvSpPr txBox="1">
            <a:spLocks noGrp="1"/>
          </p:cNvSpPr>
          <p:nvPr>
            <p:ph type="subTitle" idx="1"/>
          </p:nvPr>
        </p:nvSpPr>
        <p:spPr>
          <a:xfrm>
            <a:off x="720000" y="1782800"/>
            <a:ext cx="2454300" cy="1026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9" name="Google Shape;89;p18"/>
          <p:cNvSpPr txBox="1">
            <a:spLocks noGrp="1"/>
          </p:cNvSpPr>
          <p:nvPr>
            <p:ph type="subTitle" idx="2"/>
          </p:nvPr>
        </p:nvSpPr>
        <p:spPr>
          <a:xfrm>
            <a:off x="3347265" y="1782800"/>
            <a:ext cx="2454300" cy="1026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0" name="Google Shape;90;p18"/>
          <p:cNvSpPr txBox="1">
            <a:spLocks noGrp="1"/>
          </p:cNvSpPr>
          <p:nvPr>
            <p:ph type="subTitle" idx="3"/>
          </p:nvPr>
        </p:nvSpPr>
        <p:spPr>
          <a:xfrm>
            <a:off x="720000" y="3320363"/>
            <a:ext cx="2454300" cy="1026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1" name="Google Shape;91;p18"/>
          <p:cNvSpPr txBox="1">
            <a:spLocks noGrp="1"/>
          </p:cNvSpPr>
          <p:nvPr>
            <p:ph type="subTitle" idx="4"/>
          </p:nvPr>
        </p:nvSpPr>
        <p:spPr>
          <a:xfrm>
            <a:off x="3347265" y="3320363"/>
            <a:ext cx="2454300" cy="1026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2" name="Google Shape;92;p18"/>
          <p:cNvSpPr txBox="1">
            <a:spLocks noGrp="1"/>
          </p:cNvSpPr>
          <p:nvPr>
            <p:ph type="subTitle" idx="5"/>
          </p:nvPr>
        </p:nvSpPr>
        <p:spPr>
          <a:xfrm>
            <a:off x="5969701" y="1782800"/>
            <a:ext cx="2454300" cy="1026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3" name="Google Shape;93;p18"/>
          <p:cNvSpPr txBox="1">
            <a:spLocks noGrp="1"/>
          </p:cNvSpPr>
          <p:nvPr>
            <p:ph type="subTitle" idx="6"/>
          </p:nvPr>
        </p:nvSpPr>
        <p:spPr>
          <a:xfrm>
            <a:off x="5969701" y="3320363"/>
            <a:ext cx="2454300" cy="1026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4" name="Google Shape;94;p18"/>
          <p:cNvSpPr txBox="1">
            <a:spLocks noGrp="1"/>
          </p:cNvSpPr>
          <p:nvPr>
            <p:ph type="subTitle" idx="7"/>
          </p:nvPr>
        </p:nvSpPr>
        <p:spPr>
          <a:xfrm>
            <a:off x="724826" y="1485100"/>
            <a:ext cx="24447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300">
                <a:solidFill>
                  <a:schemeClr val="dk1"/>
                </a:solidFill>
                <a:latin typeface="Syne"/>
                <a:ea typeface="Syne"/>
                <a:cs typeface="Syne"/>
                <a:sym typeface="Syn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5" name="Google Shape;95;p18"/>
          <p:cNvSpPr txBox="1">
            <a:spLocks noGrp="1"/>
          </p:cNvSpPr>
          <p:nvPr>
            <p:ph type="subTitle" idx="8"/>
          </p:nvPr>
        </p:nvSpPr>
        <p:spPr>
          <a:xfrm>
            <a:off x="3352088" y="1485100"/>
            <a:ext cx="24447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300">
                <a:solidFill>
                  <a:schemeClr val="dk1"/>
                </a:solidFill>
                <a:latin typeface="Syne"/>
                <a:ea typeface="Syne"/>
                <a:cs typeface="Syne"/>
                <a:sym typeface="Syn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6" name="Google Shape;96;p18"/>
          <p:cNvSpPr txBox="1">
            <a:spLocks noGrp="1"/>
          </p:cNvSpPr>
          <p:nvPr>
            <p:ph type="subTitle" idx="9"/>
          </p:nvPr>
        </p:nvSpPr>
        <p:spPr>
          <a:xfrm>
            <a:off x="5974520" y="1485100"/>
            <a:ext cx="24447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300">
                <a:solidFill>
                  <a:schemeClr val="dk1"/>
                </a:solidFill>
                <a:latin typeface="Syne"/>
                <a:ea typeface="Syne"/>
                <a:cs typeface="Syne"/>
                <a:sym typeface="Syn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7" name="Google Shape;97;p18"/>
          <p:cNvSpPr txBox="1">
            <a:spLocks noGrp="1"/>
          </p:cNvSpPr>
          <p:nvPr>
            <p:ph type="subTitle" idx="13"/>
          </p:nvPr>
        </p:nvSpPr>
        <p:spPr>
          <a:xfrm>
            <a:off x="724826" y="3019465"/>
            <a:ext cx="24447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300">
                <a:solidFill>
                  <a:schemeClr val="dk1"/>
                </a:solidFill>
                <a:latin typeface="Syne"/>
                <a:ea typeface="Syne"/>
                <a:cs typeface="Syne"/>
                <a:sym typeface="Syn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8" name="Google Shape;98;p18"/>
          <p:cNvSpPr txBox="1">
            <a:spLocks noGrp="1"/>
          </p:cNvSpPr>
          <p:nvPr>
            <p:ph type="subTitle" idx="14"/>
          </p:nvPr>
        </p:nvSpPr>
        <p:spPr>
          <a:xfrm>
            <a:off x="3352088" y="3019465"/>
            <a:ext cx="24447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300">
                <a:solidFill>
                  <a:schemeClr val="dk1"/>
                </a:solidFill>
                <a:latin typeface="Syne"/>
                <a:ea typeface="Syne"/>
                <a:cs typeface="Syne"/>
                <a:sym typeface="Syn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9" name="Google Shape;99;p18"/>
          <p:cNvSpPr txBox="1">
            <a:spLocks noGrp="1"/>
          </p:cNvSpPr>
          <p:nvPr>
            <p:ph type="subTitle" idx="15"/>
          </p:nvPr>
        </p:nvSpPr>
        <p:spPr>
          <a:xfrm>
            <a:off x="5974520" y="3019465"/>
            <a:ext cx="24447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300">
                <a:solidFill>
                  <a:schemeClr val="dk1"/>
                </a:solidFill>
                <a:latin typeface="Syne"/>
                <a:ea typeface="Syne"/>
                <a:cs typeface="Syne"/>
                <a:sym typeface="Syn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04"/>
        <p:cNvGrpSpPr/>
        <p:nvPr/>
      </p:nvGrpSpPr>
      <p:grpSpPr>
        <a:xfrm>
          <a:off x="0" y="0"/>
          <a:ext cx="0" cy="0"/>
          <a:chOff x="0" y="0"/>
          <a:chExt cx="0" cy="0"/>
        </a:xfrm>
      </p:grpSpPr>
      <p:cxnSp>
        <p:nvCxnSpPr>
          <p:cNvPr id="105" name="Google Shape;105;p20"/>
          <p:cNvCxnSpPr/>
          <p:nvPr/>
        </p:nvCxnSpPr>
        <p:spPr>
          <a:xfrm>
            <a:off x="1950" y="65532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106" name="Google Shape;106;p20"/>
          <p:cNvCxnSpPr/>
          <p:nvPr/>
        </p:nvCxnSpPr>
        <p:spPr>
          <a:xfrm>
            <a:off x="2280625" y="3900"/>
            <a:ext cx="0" cy="651300"/>
          </a:xfrm>
          <a:prstGeom prst="straightConnector1">
            <a:avLst/>
          </a:prstGeom>
          <a:noFill/>
          <a:ln w="9525" cap="flat" cmpd="sng">
            <a:solidFill>
              <a:schemeClr val="dk1"/>
            </a:solidFill>
            <a:prstDash val="solid"/>
            <a:round/>
            <a:headEnd type="none" w="med" len="med"/>
            <a:tailEnd type="none" w="med" len="med"/>
          </a:ln>
        </p:spPr>
      </p:cxnSp>
      <p:cxnSp>
        <p:nvCxnSpPr>
          <p:cNvPr id="107" name="Google Shape;107;p20"/>
          <p:cNvCxnSpPr/>
          <p:nvPr/>
        </p:nvCxnSpPr>
        <p:spPr>
          <a:xfrm>
            <a:off x="1950" y="4608500"/>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108" name="Google Shape;108;p20"/>
          <p:cNvCxnSpPr/>
          <p:nvPr/>
        </p:nvCxnSpPr>
        <p:spPr>
          <a:xfrm>
            <a:off x="4074450" y="4025"/>
            <a:ext cx="0" cy="651300"/>
          </a:xfrm>
          <a:prstGeom prst="straightConnector1">
            <a:avLst/>
          </a:prstGeom>
          <a:noFill/>
          <a:ln w="9525" cap="flat" cmpd="sng">
            <a:solidFill>
              <a:schemeClr val="dk1"/>
            </a:solidFill>
            <a:prstDash val="solid"/>
            <a:round/>
            <a:headEnd type="none" w="med" len="med"/>
            <a:tailEnd type="none" w="med" len="med"/>
          </a:ln>
        </p:spPr>
      </p:cxnSp>
      <p:cxnSp>
        <p:nvCxnSpPr>
          <p:cNvPr id="109" name="Google Shape;109;p20"/>
          <p:cNvCxnSpPr/>
          <p:nvPr/>
        </p:nvCxnSpPr>
        <p:spPr>
          <a:xfrm>
            <a:off x="5838450" y="3900"/>
            <a:ext cx="0" cy="651300"/>
          </a:xfrm>
          <a:prstGeom prst="straightConnector1">
            <a:avLst/>
          </a:prstGeom>
          <a:noFill/>
          <a:ln w="9525" cap="flat" cmpd="sng">
            <a:solidFill>
              <a:schemeClr val="dk1"/>
            </a:solidFill>
            <a:prstDash val="solid"/>
            <a:round/>
            <a:headEnd type="none" w="med" len="med"/>
            <a:tailEnd type="none" w="med" len="med"/>
          </a:ln>
        </p:spPr>
      </p:cxnSp>
      <p:cxnSp>
        <p:nvCxnSpPr>
          <p:cNvPr id="110" name="Google Shape;110;p20"/>
          <p:cNvCxnSpPr/>
          <p:nvPr/>
        </p:nvCxnSpPr>
        <p:spPr>
          <a:xfrm>
            <a:off x="7543050" y="3900"/>
            <a:ext cx="0" cy="6513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11"/>
        <p:cNvGrpSpPr/>
        <p:nvPr/>
      </p:nvGrpSpPr>
      <p:grpSpPr>
        <a:xfrm>
          <a:off x="0" y="0"/>
          <a:ext cx="0" cy="0"/>
          <a:chOff x="0" y="0"/>
          <a:chExt cx="0" cy="0"/>
        </a:xfrm>
      </p:grpSpPr>
      <p:cxnSp>
        <p:nvCxnSpPr>
          <p:cNvPr id="112" name="Google Shape;112;p21"/>
          <p:cNvCxnSpPr/>
          <p:nvPr/>
        </p:nvCxnSpPr>
        <p:spPr>
          <a:xfrm>
            <a:off x="1950" y="535000"/>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113" name="Google Shape;113;p21"/>
          <p:cNvCxnSpPr/>
          <p:nvPr/>
        </p:nvCxnSpPr>
        <p:spPr>
          <a:xfrm>
            <a:off x="715100" y="551025"/>
            <a:ext cx="0" cy="4057500"/>
          </a:xfrm>
          <a:prstGeom prst="straightConnector1">
            <a:avLst/>
          </a:prstGeom>
          <a:noFill/>
          <a:ln w="9525" cap="flat" cmpd="sng">
            <a:solidFill>
              <a:schemeClr val="dk1"/>
            </a:solidFill>
            <a:prstDash val="solid"/>
            <a:round/>
            <a:headEnd type="none" w="med" len="med"/>
            <a:tailEnd type="none" w="med" len="med"/>
          </a:ln>
        </p:spPr>
      </p:cxnSp>
      <p:cxnSp>
        <p:nvCxnSpPr>
          <p:cNvPr id="114" name="Google Shape;114;p21"/>
          <p:cNvCxnSpPr/>
          <p:nvPr/>
        </p:nvCxnSpPr>
        <p:spPr>
          <a:xfrm>
            <a:off x="1950" y="4608500"/>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115" name="Google Shape;115;p21"/>
          <p:cNvCxnSpPr/>
          <p:nvPr/>
        </p:nvCxnSpPr>
        <p:spPr>
          <a:xfrm>
            <a:off x="8428900" y="551025"/>
            <a:ext cx="0" cy="40575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400"/>
              <a:buFont typeface="Syne"/>
              <a:buNone/>
              <a:defRPr sz="3400">
                <a:solidFill>
                  <a:schemeClr val="dk1"/>
                </a:solidFill>
                <a:latin typeface="Syne"/>
                <a:ea typeface="Syne"/>
                <a:cs typeface="Syne"/>
                <a:sym typeface="Syne"/>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1pPr>
            <a:lvl2pPr marL="914400" lvl="1" indent="-304800">
              <a:lnSpc>
                <a:spcPct val="100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2pPr>
            <a:lvl3pPr marL="1371600" lvl="2" indent="-304800">
              <a:lnSpc>
                <a:spcPct val="100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3pPr>
            <a:lvl4pPr marL="1828800" lvl="3" indent="-304800">
              <a:lnSpc>
                <a:spcPct val="100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4pPr>
            <a:lvl5pPr marL="2286000" lvl="4" indent="-304800">
              <a:lnSpc>
                <a:spcPct val="100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5pPr>
            <a:lvl6pPr marL="2743200" lvl="5" indent="-304800">
              <a:lnSpc>
                <a:spcPct val="100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6pPr>
            <a:lvl7pPr marL="3200400" lvl="6" indent="-304800">
              <a:lnSpc>
                <a:spcPct val="100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7pPr>
            <a:lvl8pPr marL="3657600" lvl="7" indent="-304800">
              <a:lnSpc>
                <a:spcPct val="100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8pPr>
            <a:lvl9pPr marL="4114800" lvl="8" indent="-304800">
              <a:lnSpc>
                <a:spcPct val="100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2" r:id="rId3"/>
    <p:sldLayoutId id="2147483654" r:id="rId4"/>
    <p:sldLayoutId id="2147483655" r:id="rId5"/>
    <p:sldLayoutId id="2147483656" r:id="rId6"/>
    <p:sldLayoutId id="2147483658" r:id="rId7"/>
    <p:sldLayoutId id="2147483663" r:id="rId8"/>
    <p:sldLayoutId id="2147483664" r:id="rId9"/>
    <p:sldLayoutId id="2147483666" r:id="rId10"/>
    <p:sldLayoutId id="2147483667" r:id="rId11"/>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188">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3.webp"/><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9.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jp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9.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5"/>
          <p:cNvSpPr txBox="1">
            <a:spLocks noGrp="1"/>
          </p:cNvSpPr>
          <p:nvPr>
            <p:ph type="ctrTitle"/>
          </p:nvPr>
        </p:nvSpPr>
        <p:spPr>
          <a:xfrm>
            <a:off x="445768" y="2052545"/>
            <a:ext cx="8252460" cy="911867"/>
          </a:xfrm>
          <a:prstGeom prst="rect">
            <a:avLst/>
          </a:prstGeom>
          <a:ln w="28575">
            <a:solidFill>
              <a:schemeClr val="tx1">
                <a:lumMod val="95000"/>
                <a:lumOff val="5000"/>
              </a:schemeClr>
            </a:solidFill>
          </a:ln>
        </p:spPr>
        <p:txBody>
          <a:bodyPr spcFirstLastPara="1" wrap="square" lIns="91425" tIns="91425" rIns="91425" bIns="91425" anchor="b" anchorCtr="0">
            <a:noAutofit/>
          </a:bodyPr>
          <a:lstStyle/>
          <a:p>
            <a:pPr marL="0" lvl="0" indent="0" algn="ctr" rtl="0">
              <a:spcBef>
                <a:spcPts val="0"/>
              </a:spcBef>
              <a:spcAft>
                <a:spcPts val="0"/>
              </a:spcAft>
              <a:buNone/>
            </a:pPr>
            <a:r>
              <a:rPr lang="fr-FR" sz="4800" dirty="0">
                <a:solidFill>
                  <a:srgbClr val="0070C0"/>
                </a:solidFill>
              </a:rPr>
              <a:t>Détection des émotions </a:t>
            </a:r>
            <a:endParaRPr lang="fr-FR" sz="2800" dirty="0">
              <a:solidFill>
                <a:srgbClr val="0070C0"/>
              </a:solidFill>
            </a:endParaRPr>
          </a:p>
        </p:txBody>
      </p:sp>
      <p:sp>
        <p:nvSpPr>
          <p:cNvPr id="19" name="Rectangle: Diagonal Corners Rounded 18">
            <a:extLst>
              <a:ext uri="{FF2B5EF4-FFF2-40B4-BE49-F238E27FC236}">
                <a16:creationId xmlns:a16="http://schemas.microsoft.com/office/drawing/2014/main" id="{057009DB-8A61-777E-109A-4751E1E869C0}"/>
              </a:ext>
            </a:extLst>
          </p:cNvPr>
          <p:cNvSpPr/>
          <p:nvPr/>
        </p:nvSpPr>
        <p:spPr>
          <a:xfrm>
            <a:off x="840564" y="3436767"/>
            <a:ext cx="3413760" cy="971407"/>
          </a:xfrm>
          <a:prstGeom prst="round2Diag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dirty="0">
                <a:ln w="0"/>
                <a:solidFill>
                  <a:schemeClr val="tx1"/>
                </a:solidFill>
                <a:effectLst>
                  <a:outerShdw blurRad="38100" dist="38100" dir="2700000" algn="tl">
                    <a:srgbClr val="000000">
                      <a:alpha val="43137"/>
                    </a:srgbClr>
                  </a:outerShdw>
                </a:effectLst>
              </a:rPr>
              <a:t>Présenté par :</a:t>
            </a:r>
            <a:endParaRPr lang="fr-CH" dirty="0">
              <a:ln w="0"/>
              <a:solidFill>
                <a:schemeClr val="tx1"/>
              </a:solidFill>
              <a:effectLst>
                <a:outerShdw blurRad="38100" dist="38100" dir="2700000" algn="tl">
                  <a:srgbClr val="000000">
                    <a:alpha val="43137"/>
                  </a:srgbClr>
                </a:outerShdw>
              </a:effectLst>
            </a:endParaRPr>
          </a:p>
          <a:p>
            <a:r>
              <a:rPr lang="en-US" sz="1600" b="1" dirty="0">
                <a:solidFill>
                  <a:schemeClr val="tx1">
                    <a:lumMod val="95000"/>
                    <a:lumOff val="5000"/>
                  </a:schemeClr>
                </a:solidFill>
              </a:rPr>
              <a:t>Younes MOURABIT </a:t>
            </a:r>
          </a:p>
          <a:p>
            <a:r>
              <a:rPr lang="en-US" sz="1600" b="1" dirty="0" err="1">
                <a:solidFill>
                  <a:schemeClr val="tx1">
                    <a:lumMod val="95000"/>
                    <a:lumOff val="5000"/>
                  </a:schemeClr>
                </a:solidFill>
              </a:rPr>
              <a:t>Soulaiman</a:t>
            </a:r>
            <a:r>
              <a:rPr lang="en-US" sz="1600" b="1" dirty="0">
                <a:solidFill>
                  <a:schemeClr val="tx1">
                    <a:lumMod val="95000"/>
                    <a:lumOff val="5000"/>
                  </a:schemeClr>
                </a:solidFill>
              </a:rPr>
              <a:t> BOUALI </a:t>
            </a:r>
            <a:endParaRPr lang="fr-FR" sz="1600" b="1" dirty="0"/>
          </a:p>
          <a:p>
            <a:endParaRPr lang="fr-CH" dirty="0">
              <a:ln w="0"/>
              <a:solidFill>
                <a:schemeClr val="tx1"/>
              </a:solidFill>
              <a:effectLst>
                <a:outerShdw blurRad="38100" dist="19050" dir="2700000" algn="tl" rotWithShape="0">
                  <a:schemeClr val="dk1">
                    <a:alpha val="40000"/>
                  </a:schemeClr>
                </a:outerShdw>
              </a:effectLst>
            </a:endParaRPr>
          </a:p>
        </p:txBody>
      </p:sp>
      <p:sp>
        <p:nvSpPr>
          <p:cNvPr id="21" name="TextBox 20">
            <a:extLst>
              <a:ext uri="{FF2B5EF4-FFF2-40B4-BE49-F238E27FC236}">
                <a16:creationId xmlns:a16="http://schemas.microsoft.com/office/drawing/2014/main" id="{A5F7DA0A-AEA9-C61A-D2A3-F62D1E97ED75}"/>
              </a:ext>
            </a:extLst>
          </p:cNvPr>
          <p:cNvSpPr txBox="1"/>
          <p:nvPr/>
        </p:nvSpPr>
        <p:spPr>
          <a:xfrm>
            <a:off x="3268979" y="4753936"/>
            <a:ext cx="2606040" cy="307777"/>
          </a:xfrm>
          <a:prstGeom prst="rect">
            <a:avLst/>
          </a:prstGeom>
          <a:noFill/>
        </p:spPr>
        <p:txBody>
          <a:bodyPr wrap="square" rtlCol="0">
            <a:spAutoFit/>
          </a:bodyPr>
          <a:lstStyle/>
          <a:p>
            <a:pPr algn="ctr"/>
            <a:r>
              <a:rPr lang="fr-CH" dirty="0">
                <a:latin typeface="Andalus" panose="02020603050405020304" pitchFamily="18" charset="-78"/>
                <a:cs typeface="Andalus" panose="02020603050405020304" pitchFamily="18" charset="-78"/>
              </a:rPr>
              <a:t>Année universitaire: 2023/2024</a:t>
            </a:r>
          </a:p>
        </p:txBody>
      </p:sp>
      <p:sp>
        <p:nvSpPr>
          <p:cNvPr id="22" name="TextBox 21">
            <a:extLst>
              <a:ext uri="{FF2B5EF4-FFF2-40B4-BE49-F238E27FC236}">
                <a16:creationId xmlns:a16="http://schemas.microsoft.com/office/drawing/2014/main" id="{BE23AE25-4B56-6184-CD17-975A3F3F68D4}"/>
              </a:ext>
            </a:extLst>
          </p:cNvPr>
          <p:cNvSpPr txBox="1"/>
          <p:nvPr/>
        </p:nvSpPr>
        <p:spPr>
          <a:xfrm>
            <a:off x="-49531" y="444995"/>
            <a:ext cx="4747260" cy="769441"/>
          </a:xfrm>
          <a:prstGeom prst="rect">
            <a:avLst/>
          </a:prstGeom>
          <a:noFill/>
        </p:spPr>
        <p:txBody>
          <a:bodyPr wrap="square" rtlCol="0">
            <a:spAutoFit/>
          </a:bodyPr>
          <a:lstStyle/>
          <a:p>
            <a:pPr algn="ctr"/>
            <a:r>
              <a:rPr lang="fr-FR" sz="1100" dirty="0"/>
              <a:t>Université Ibn </a:t>
            </a:r>
            <a:r>
              <a:rPr lang="fr-FR" sz="1100" dirty="0" err="1"/>
              <a:t>Zohr</a:t>
            </a:r>
            <a:br>
              <a:rPr lang="fr-FR" sz="1100" dirty="0"/>
            </a:br>
            <a:r>
              <a:rPr lang="fr-FR" sz="1100" dirty="0"/>
              <a:t>Faculté Polydisciplinaire de Ouarzazate</a:t>
            </a:r>
            <a:br>
              <a:rPr lang="fr-FR" sz="1100" dirty="0"/>
            </a:br>
            <a:r>
              <a:rPr lang="fr-FR" sz="1100" dirty="0"/>
              <a:t>Département de Mathématiques, Informatique et Gestion</a:t>
            </a:r>
            <a:br>
              <a:rPr lang="fr-FR" sz="1100" dirty="0"/>
            </a:br>
            <a:r>
              <a:rPr lang="fr-FR" sz="1100" dirty="0"/>
              <a:t>Filière Sciences Mathématiques et Informatique</a:t>
            </a:r>
            <a:endParaRPr lang="fr-CH" sz="1100" dirty="0"/>
          </a:p>
        </p:txBody>
      </p:sp>
      <p:pic>
        <p:nvPicPr>
          <p:cNvPr id="2" name="Imag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2584" y="-87276"/>
            <a:ext cx="6168935" cy="1915886"/>
          </a:xfrm>
          <a:prstGeom prst="rect">
            <a:avLst/>
          </a:prstGeom>
        </p:spPr>
      </p:pic>
      <p:sp>
        <p:nvSpPr>
          <p:cNvPr id="3" name="ZoneTexte 2"/>
          <p:cNvSpPr txBox="1"/>
          <p:nvPr/>
        </p:nvSpPr>
        <p:spPr>
          <a:xfrm>
            <a:off x="2967232" y="1479602"/>
            <a:ext cx="3209533" cy="307777"/>
          </a:xfrm>
          <a:prstGeom prst="rect">
            <a:avLst/>
          </a:prstGeom>
          <a:noFill/>
        </p:spPr>
        <p:txBody>
          <a:bodyPr wrap="none" rtlCol="0">
            <a:spAutoFit/>
          </a:bodyPr>
          <a:lstStyle/>
          <a:p>
            <a:r>
              <a:rPr lang="fr-FR" dirty="0"/>
              <a:t>Présentation du Projet de Fin d’Etude:</a:t>
            </a:r>
          </a:p>
        </p:txBody>
      </p:sp>
      <p:sp>
        <p:nvSpPr>
          <p:cNvPr id="5" name="ZoneTexte 4"/>
          <p:cNvSpPr txBox="1"/>
          <p:nvPr/>
        </p:nvSpPr>
        <p:spPr>
          <a:xfrm>
            <a:off x="4889677" y="3436767"/>
            <a:ext cx="3570209" cy="861774"/>
          </a:xfrm>
          <a:prstGeom prst="rect">
            <a:avLst/>
          </a:prstGeom>
          <a:noFill/>
        </p:spPr>
        <p:txBody>
          <a:bodyPr wrap="none" rtlCol="0">
            <a:spAutoFit/>
          </a:bodyPr>
          <a:lstStyle/>
          <a:p>
            <a:pPr lvl="0" algn="ctr"/>
            <a:r>
              <a:rPr lang="fr-CH" dirty="0">
                <a:ln w="0"/>
                <a:effectLst>
                  <a:outerShdw blurRad="38100" dist="19050" dir="2700000" algn="tl" rotWithShape="0">
                    <a:srgbClr val="000000">
                      <a:alpha val="40000"/>
                    </a:srgbClr>
                  </a:outerShdw>
                </a:effectLst>
              </a:rPr>
              <a:t>Soutenu devant le jury :</a:t>
            </a:r>
          </a:p>
          <a:p>
            <a:pPr lvl="0" algn="ctr"/>
            <a:r>
              <a:rPr lang="fr-FR" sz="1800" b="1" dirty="0">
                <a:latin typeface="+mn-lt"/>
              </a:rPr>
              <a:t>Dr. Othmane BAIZ</a:t>
            </a:r>
            <a:r>
              <a:rPr lang="fr-CH" sz="1800" b="1" dirty="0">
                <a:ln w="0"/>
                <a:latin typeface="+mn-lt"/>
              </a:rPr>
              <a:t> </a:t>
            </a:r>
            <a:r>
              <a:rPr lang="en-CA" sz="1800" b="1" dirty="0">
                <a:ln w="0"/>
                <a:latin typeface="+mn-lt"/>
              </a:rPr>
              <a:t>: </a:t>
            </a:r>
            <a:r>
              <a:rPr lang="en-CA" sz="1800" b="1" dirty="0" err="1">
                <a:ln w="0"/>
                <a:latin typeface="+mn-lt"/>
              </a:rPr>
              <a:t>Encadrant</a:t>
            </a:r>
            <a:endParaRPr lang="fr-CH" sz="1800" b="1" dirty="0">
              <a:ln w="0"/>
              <a:latin typeface="+mn-lt"/>
            </a:endParaRPr>
          </a:p>
          <a:p>
            <a:pPr lvl="0" algn="ctr"/>
            <a:r>
              <a:rPr lang="fr-CH" sz="1800" b="1" dirty="0">
                <a:ln w="0"/>
                <a:latin typeface="+mn-lt"/>
              </a:rPr>
              <a:t>Dr. Rachid DAKIR  </a:t>
            </a:r>
            <a:r>
              <a:rPr lang="fr-FR" sz="1800" b="1" dirty="0">
                <a:latin typeface="+mn-lt"/>
              </a:rPr>
              <a:t>: Examinant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Plan</a:t>
            </a:r>
            <a:endParaRPr dirty="0"/>
          </a:p>
        </p:txBody>
      </p:sp>
      <p:sp>
        <p:nvSpPr>
          <p:cNvPr id="143" name="Google Shape;143;p26"/>
          <p:cNvSpPr txBox="1"/>
          <p:nvPr/>
        </p:nvSpPr>
        <p:spPr>
          <a:xfrm>
            <a:off x="598080" y="1276426"/>
            <a:ext cx="7704000" cy="3977021"/>
          </a:xfrm>
          <a:prstGeom prst="rect">
            <a:avLst/>
          </a:prstGeom>
          <a:noFill/>
          <a:ln>
            <a:noFill/>
          </a:ln>
        </p:spPr>
        <p:txBody>
          <a:bodyPr spcFirstLastPara="1" wrap="square" lIns="91425" tIns="91425" rIns="0" bIns="91425" anchor="t" anchorCtr="0">
            <a:noAutofit/>
          </a:bodyPr>
          <a:lstStyle/>
          <a:p>
            <a:pPr marL="228600" lvl="0" indent="-228600" algn="l" rtl="0">
              <a:lnSpc>
                <a:spcPct val="200000"/>
              </a:lnSpc>
              <a:spcBef>
                <a:spcPts val="0"/>
              </a:spcBef>
              <a:spcAft>
                <a:spcPts val="0"/>
              </a:spcAft>
              <a:buFont typeface="+mj-lt"/>
              <a:buAutoNum type="arabicPeriod"/>
            </a:pPr>
            <a:r>
              <a:rPr lang="en-CA" sz="1600" dirty="0">
                <a:solidFill>
                  <a:schemeClr val="dk1"/>
                </a:solidFill>
                <a:latin typeface="Comic Sans MS" panose="030F0702030302020204" pitchFamily="66" charset="0"/>
                <a:ea typeface="Inter" panose="020B0604020202020204" charset="0"/>
                <a:cs typeface="Inter"/>
                <a:sym typeface="Inter"/>
              </a:rPr>
              <a:t>Introduction</a:t>
            </a:r>
          </a:p>
          <a:p>
            <a:pPr lvl="0" algn="l" rtl="0">
              <a:lnSpc>
                <a:spcPct val="200000"/>
              </a:lnSpc>
              <a:spcBef>
                <a:spcPts val="0"/>
              </a:spcBef>
              <a:spcAft>
                <a:spcPts val="0"/>
              </a:spcAft>
            </a:pPr>
            <a:r>
              <a:rPr lang="en-CA" sz="1600" dirty="0">
                <a:solidFill>
                  <a:schemeClr val="dk1"/>
                </a:solidFill>
                <a:latin typeface="Comic Sans MS" panose="030F0702030302020204" pitchFamily="66" charset="0"/>
                <a:ea typeface="Inter" panose="020B0604020202020204" charset="0"/>
                <a:cs typeface="Inter"/>
                <a:sym typeface="Inter"/>
              </a:rPr>
              <a:t>2. </a:t>
            </a:r>
            <a:r>
              <a:rPr lang="en-CA" sz="1600" dirty="0" err="1">
                <a:solidFill>
                  <a:schemeClr val="dk1"/>
                </a:solidFill>
                <a:latin typeface="Comic Sans MS" panose="030F0702030302020204" pitchFamily="66" charset="0"/>
                <a:ea typeface="Inter" panose="020B0604020202020204" charset="0"/>
                <a:cs typeface="Inter"/>
                <a:sym typeface="Inter"/>
              </a:rPr>
              <a:t>Méthodologie</a:t>
            </a:r>
            <a:r>
              <a:rPr lang="en-CA" sz="1600" dirty="0">
                <a:solidFill>
                  <a:schemeClr val="dk1"/>
                </a:solidFill>
                <a:latin typeface="Comic Sans MS" panose="030F0702030302020204" pitchFamily="66" charset="0"/>
                <a:ea typeface="Inter" panose="020B0604020202020204" charset="0"/>
                <a:cs typeface="Inter"/>
                <a:sym typeface="Inter"/>
              </a:rPr>
              <a:t> de travail</a:t>
            </a:r>
          </a:p>
          <a:p>
            <a:pPr lvl="0" algn="l" rtl="0">
              <a:lnSpc>
                <a:spcPct val="200000"/>
              </a:lnSpc>
              <a:spcBef>
                <a:spcPts val="0"/>
              </a:spcBef>
              <a:spcAft>
                <a:spcPts val="0"/>
              </a:spcAft>
            </a:pPr>
            <a:r>
              <a:rPr lang="fr-FR" sz="1600" dirty="0">
                <a:solidFill>
                  <a:schemeClr val="dk1"/>
                </a:solidFill>
                <a:latin typeface="Comic Sans MS" panose="030F0702030302020204" pitchFamily="66" charset="0"/>
                <a:ea typeface="Inter" panose="020B0604020202020204" charset="0"/>
                <a:cs typeface="Inter"/>
                <a:sym typeface="Inter"/>
              </a:rPr>
              <a:t>3. Implémentation</a:t>
            </a:r>
          </a:p>
          <a:p>
            <a:pPr>
              <a:lnSpc>
                <a:spcPct val="200000"/>
              </a:lnSpc>
            </a:pPr>
            <a:r>
              <a:rPr lang="fr-FR" sz="1600" dirty="0">
                <a:solidFill>
                  <a:schemeClr val="dk1"/>
                </a:solidFill>
                <a:latin typeface="Comic Sans MS" panose="030F0702030302020204" pitchFamily="66" charset="0"/>
                <a:ea typeface="Inter" panose="020B0604020202020204" charset="0"/>
                <a:cs typeface="Inter"/>
                <a:sym typeface="Inter"/>
              </a:rPr>
              <a:t>4. Conclusion</a:t>
            </a:r>
          </a:p>
        </p:txBody>
      </p:sp>
      <p:cxnSp>
        <p:nvCxnSpPr>
          <p:cNvPr id="146" name="Google Shape;146;p26"/>
          <p:cNvCxnSpPr/>
          <p:nvPr/>
        </p:nvCxnSpPr>
        <p:spPr>
          <a:xfrm>
            <a:off x="1950" y="44702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147" name="Google Shape;147;p26"/>
          <p:cNvCxnSpPr/>
          <p:nvPr/>
        </p:nvCxnSpPr>
        <p:spPr>
          <a:xfrm>
            <a:off x="1950" y="1147075"/>
            <a:ext cx="9139800" cy="0"/>
          </a:xfrm>
          <a:prstGeom prst="straightConnector1">
            <a:avLst/>
          </a:prstGeom>
          <a:noFill/>
          <a:ln w="9525" cap="flat" cmpd="sng">
            <a:solidFill>
              <a:schemeClr val="dk1"/>
            </a:solidFill>
            <a:prstDash val="solid"/>
            <a:round/>
            <a:headEnd type="none" w="med" len="med"/>
            <a:tailEnd type="none" w="med" len="med"/>
          </a:ln>
        </p:spPr>
      </p:cxnSp>
      <p:sp>
        <p:nvSpPr>
          <p:cNvPr id="3" name="TextBox 2">
            <a:extLst>
              <a:ext uri="{FF2B5EF4-FFF2-40B4-BE49-F238E27FC236}">
                <a16:creationId xmlns:a16="http://schemas.microsoft.com/office/drawing/2014/main" id="{44924C76-A232-F075-B6BE-2823EDFE63A9}"/>
              </a:ext>
            </a:extLst>
          </p:cNvPr>
          <p:cNvSpPr txBox="1"/>
          <p:nvPr/>
        </p:nvSpPr>
        <p:spPr>
          <a:xfrm>
            <a:off x="8483109" y="4683340"/>
            <a:ext cx="660891" cy="307777"/>
          </a:xfrm>
          <a:prstGeom prst="rect">
            <a:avLst/>
          </a:prstGeom>
          <a:noFill/>
        </p:spPr>
        <p:txBody>
          <a:bodyPr wrap="square" rtlCol="0">
            <a:spAutoFit/>
          </a:bodyPr>
          <a:lstStyle/>
          <a:p>
            <a:r>
              <a:rPr lang="fr-FR" dirty="0"/>
              <a:t>1</a:t>
            </a:r>
            <a:endParaRPr lang="fr-CH" dirty="0"/>
          </a:p>
        </p:txBody>
      </p:sp>
      <p:cxnSp>
        <p:nvCxnSpPr>
          <p:cNvPr id="7" name="Google Shape;285;p33"/>
          <p:cNvCxnSpPr/>
          <p:nvPr/>
        </p:nvCxnSpPr>
        <p:spPr>
          <a:xfrm>
            <a:off x="1950" y="4608500"/>
            <a:ext cx="9139800" cy="0"/>
          </a:xfrm>
          <a:prstGeom prst="straightConnector1">
            <a:avLst/>
          </a:prstGeom>
          <a:noFill/>
          <a:ln w="9525" cap="flat" cmpd="sng">
            <a:solidFill>
              <a:schemeClr val="dk1"/>
            </a:solidFill>
            <a:prstDash val="solid"/>
            <a:round/>
            <a:headEnd type="none" w="med" len="med"/>
            <a:tailEnd type="none" w="med" len="med"/>
          </a:ln>
        </p:spPr>
      </p:cxnSp>
      <p:sp>
        <p:nvSpPr>
          <p:cNvPr id="8" name="ZoneTexte 7"/>
          <p:cNvSpPr txBox="1"/>
          <p:nvPr/>
        </p:nvSpPr>
        <p:spPr>
          <a:xfrm>
            <a:off x="3179702" y="4683340"/>
            <a:ext cx="2784296" cy="307777"/>
          </a:xfrm>
          <a:prstGeom prst="rect">
            <a:avLst/>
          </a:prstGeom>
          <a:noFill/>
        </p:spPr>
        <p:txBody>
          <a:bodyPr wrap="square" rtlCol="0">
            <a:spAutoFit/>
          </a:bodyPr>
          <a:lstStyle/>
          <a:p>
            <a:pPr algn="ctr"/>
            <a:r>
              <a:rPr lang="fr-FR" dirty="0">
                <a:latin typeface="Footlight MT Light" panose="0204060206030A020304" pitchFamily="18" charset="0"/>
              </a:rPr>
              <a:t>PFE: Détection des émotions</a:t>
            </a:r>
          </a:p>
        </p:txBody>
      </p:sp>
      <p:sp>
        <p:nvSpPr>
          <p:cNvPr id="9" name="ZoneTexte 8"/>
          <p:cNvSpPr txBox="1"/>
          <p:nvPr/>
        </p:nvSpPr>
        <p:spPr>
          <a:xfrm>
            <a:off x="269297" y="4683340"/>
            <a:ext cx="731290" cy="307777"/>
          </a:xfrm>
          <a:prstGeom prst="rect">
            <a:avLst/>
          </a:prstGeom>
          <a:noFill/>
        </p:spPr>
        <p:txBody>
          <a:bodyPr wrap="none" rtlCol="0">
            <a:spAutoFit/>
          </a:bodyPr>
          <a:lstStyle/>
          <a:p>
            <a:r>
              <a:rPr lang="fr-FR" dirty="0">
                <a:latin typeface="Footlight MT Light" panose="0204060206030A020304" pitchFamily="18" charset="0"/>
              </a:rPr>
              <a:t>SMI-S6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228600" lvl="0" indent="-228600" algn="ctr">
              <a:buFont typeface="+mj-lt"/>
              <a:buAutoNum type="arabicPeriod"/>
            </a:pPr>
            <a:r>
              <a:rPr lang="en-CA" dirty="0">
                <a:latin typeface="Inter"/>
                <a:ea typeface="Inter"/>
                <a:cs typeface="Inter"/>
                <a:sym typeface="Inter"/>
              </a:rPr>
              <a:t>Introduction</a:t>
            </a:r>
          </a:p>
        </p:txBody>
      </p:sp>
      <p:sp>
        <p:nvSpPr>
          <p:cNvPr id="271" name="Google Shape;271;p33"/>
          <p:cNvSpPr txBox="1">
            <a:spLocks noGrp="1"/>
          </p:cNvSpPr>
          <p:nvPr>
            <p:ph type="subTitle" idx="1"/>
          </p:nvPr>
        </p:nvSpPr>
        <p:spPr>
          <a:xfrm>
            <a:off x="60960" y="1219200"/>
            <a:ext cx="8991599" cy="3841750"/>
          </a:xfrm>
          <a:prstGeom prst="rect">
            <a:avLst/>
          </a:prstGeom>
        </p:spPr>
        <p:txBody>
          <a:bodyPr spcFirstLastPara="1" wrap="square" lIns="91425" tIns="91425" rIns="91425" bIns="91425" anchor="t" anchorCtr="0">
            <a:noAutofit/>
          </a:bodyPr>
          <a:lstStyle/>
          <a:p>
            <a:pPr marL="323850" indent="-171450" algn="justLow">
              <a:lnSpc>
                <a:spcPct val="150000"/>
              </a:lnSpc>
              <a:buFont typeface="Wingdings" panose="05000000000000000000" pitchFamily="2" charset="2"/>
              <a:buChar char="q"/>
            </a:pPr>
            <a:r>
              <a:rPr lang="fr-FR" b="1" dirty="0">
                <a:latin typeface="Comic Sans MS" panose="030F0702030302020204" pitchFamily="66" charset="0"/>
              </a:rPr>
              <a:t>Problématique :</a:t>
            </a:r>
          </a:p>
          <a:p>
            <a:pPr marL="781050" lvl="1" indent="-171450" algn="justLow">
              <a:lnSpc>
                <a:spcPct val="150000"/>
              </a:lnSpc>
              <a:buFont typeface="Wingdings" panose="05000000000000000000" pitchFamily="2" charset="2"/>
              <a:buChar char="ü"/>
            </a:pPr>
            <a:r>
              <a:rPr lang="fr-FR" dirty="0">
                <a:latin typeface="Comic Sans MS" panose="030F0702030302020204" pitchFamily="66" charset="0"/>
              </a:rPr>
              <a:t>L'insécurité est une réalité dans notre société, caractérisée par la propagation des comportements illégaux.</a:t>
            </a:r>
          </a:p>
          <a:p>
            <a:pPr marL="781050" lvl="1" indent="-171450" algn="justLow">
              <a:lnSpc>
                <a:spcPct val="150000"/>
              </a:lnSpc>
              <a:buFont typeface="Wingdings" panose="05000000000000000000" pitchFamily="2" charset="2"/>
              <a:buChar char="ü"/>
            </a:pPr>
            <a:r>
              <a:rPr lang="fr-FR" dirty="0">
                <a:latin typeface="Comic Sans MS" panose="030F0702030302020204" pitchFamily="66" charset="0"/>
              </a:rPr>
              <a:t>La garantie de la sécurité devient une priorité majeure pour les institutions gouvernementales.</a:t>
            </a:r>
          </a:p>
          <a:p>
            <a:pPr marL="381000" indent="-228600" algn="justLow">
              <a:lnSpc>
                <a:spcPct val="200000"/>
              </a:lnSpc>
              <a:buFont typeface="Wingdings" panose="05000000000000000000" pitchFamily="2" charset="2"/>
              <a:buChar char="q"/>
            </a:pPr>
            <a:r>
              <a:rPr lang="fr-FR" b="1" dirty="0">
                <a:latin typeface="Comic Sans MS" panose="030F0702030302020204" pitchFamily="66" charset="0"/>
              </a:rPr>
              <a:t>Objectif :</a:t>
            </a:r>
          </a:p>
          <a:p>
            <a:pPr marL="781050" lvl="1" indent="-171450" algn="justLow">
              <a:lnSpc>
                <a:spcPct val="150000"/>
              </a:lnSpc>
              <a:buFont typeface="Wingdings" panose="05000000000000000000" pitchFamily="2" charset="2"/>
              <a:buChar char="ü"/>
            </a:pPr>
            <a:r>
              <a:rPr lang="fr-FR" dirty="0">
                <a:latin typeface="Comic Sans MS" panose="030F0702030302020204" pitchFamily="66" charset="0"/>
              </a:rPr>
              <a:t>Concevoir un système capable de détecter en temps réel les émotions des individus.</a:t>
            </a:r>
          </a:p>
          <a:p>
            <a:pPr marL="781050" lvl="1" indent="-171450" algn="justLow">
              <a:lnSpc>
                <a:spcPct val="150000"/>
              </a:lnSpc>
              <a:buFont typeface="Wingdings" panose="05000000000000000000" pitchFamily="2" charset="2"/>
              <a:buChar char="ü"/>
            </a:pPr>
            <a:r>
              <a:rPr lang="fr-FR" dirty="0">
                <a:latin typeface="Comic Sans MS" panose="030F0702030302020204" pitchFamily="66" charset="0"/>
              </a:rPr>
              <a:t>Utiliser des architectures existantes dans le domaine du Deep Learning pour atteindre cet objectif.</a:t>
            </a:r>
          </a:p>
          <a:p>
            <a:pPr marL="781050" lvl="1" indent="-171450" algn="justLow">
              <a:lnSpc>
                <a:spcPct val="150000"/>
              </a:lnSpc>
              <a:buFont typeface="Wingdings" panose="05000000000000000000" pitchFamily="2" charset="2"/>
              <a:buChar char="ü"/>
            </a:pPr>
            <a:r>
              <a:rPr lang="fr-FR" dirty="0">
                <a:latin typeface="Comic Sans MS" panose="030F0702030302020204" pitchFamily="66" charset="0"/>
              </a:rPr>
              <a:t>Entraîner un modèle adapté pour la détection des émotions.</a:t>
            </a:r>
          </a:p>
          <a:p>
            <a:pPr marL="323850" indent="-171450" algn="justLow">
              <a:lnSpc>
                <a:spcPct val="200000"/>
              </a:lnSpc>
              <a:buFont typeface="Wingdings" panose="05000000000000000000" pitchFamily="2" charset="2"/>
              <a:buChar char="q"/>
            </a:pPr>
            <a:r>
              <a:rPr lang="fr-FR" b="1" dirty="0">
                <a:latin typeface="Comic Sans MS" panose="030F0702030302020204" pitchFamily="66" charset="0"/>
              </a:rPr>
              <a:t>Cadre du projet :</a:t>
            </a:r>
          </a:p>
          <a:p>
            <a:pPr marL="781050" lvl="1" indent="-171450" algn="justLow">
              <a:lnSpc>
                <a:spcPct val="150000"/>
              </a:lnSpc>
              <a:buFont typeface="Wingdings" panose="05000000000000000000" pitchFamily="2" charset="2"/>
              <a:buChar char="ü"/>
            </a:pPr>
            <a:r>
              <a:rPr lang="fr-FR" dirty="0">
                <a:latin typeface="Comic Sans MS" panose="030F0702030302020204" pitchFamily="66" charset="0"/>
              </a:rPr>
              <a:t>Projet de fin d'études pour obtenir la licence en sciences mathématiques et informatiques.</a:t>
            </a:r>
          </a:p>
          <a:p>
            <a:pPr marL="781050" lvl="1" indent="-171450" algn="justLow">
              <a:lnSpc>
                <a:spcPct val="150000"/>
              </a:lnSpc>
              <a:buFont typeface="Wingdings" panose="05000000000000000000" pitchFamily="2" charset="2"/>
              <a:buChar char="ü"/>
            </a:pPr>
            <a:r>
              <a:rPr lang="fr-FR" dirty="0">
                <a:latin typeface="Comic Sans MS" panose="030F0702030302020204" pitchFamily="66" charset="0"/>
              </a:rPr>
              <a:t>Réalisé à la Faculté Polydisciplinaire d’Ouarzazate (FPO), université Ibn Zohr d’Agadir.</a:t>
            </a:r>
          </a:p>
        </p:txBody>
      </p:sp>
      <p:cxnSp>
        <p:nvCxnSpPr>
          <p:cNvPr id="283" name="Google Shape;283;p33"/>
          <p:cNvCxnSpPr/>
          <p:nvPr/>
        </p:nvCxnSpPr>
        <p:spPr>
          <a:xfrm>
            <a:off x="1950" y="44702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4" name="Google Shape;284;p33"/>
          <p:cNvCxnSpPr/>
          <p:nvPr/>
        </p:nvCxnSpPr>
        <p:spPr>
          <a:xfrm>
            <a:off x="1950" y="114707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5" name="Google Shape;285;p33"/>
          <p:cNvCxnSpPr/>
          <p:nvPr/>
        </p:nvCxnSpPr>
        <p:spPr>
          <a:xfrm>
            <a:off x="1950" y="4608500"/>
            <a:ext cx="9139800" cy="0"/>
          </a:xfrm>
          <a:prstGeom prst="straightConnector1">
            <a:avLst/>
          </a:prstGeom>
          <a:noFill/>
          <a:ln w="9525" cap="flat" cmpd="sng">
            <a:solidFill>
              <a:schemeClr val="dk1"/>
            </a:solidFill>
            <a:prstDash val="solid"/>
            <a:round/>
            <a:headEnd type="none" w="med" len="med"/>
            <a:tailEnd type="none" w="med" len="med"/>
          </a:ln>
        </p:spPr>
      </p:cxnSp>
      <p:sp>
        <p:nvSpPr>
          <p:cNvPr id="2" name="TextBox 1">
            <a:extLst>
              <a:ext uri="{FF2B5EF4-FFF2-40B4-BE49-F238E27FC236}">
                <a16:creationId xmlns:a16="http://schemas.microsoft.com/office/drawing/2014/main" id="{0D4AC0EF-FE40-698C-F45A-B6EAB9E1EA7D}"/>
              </a:ext>
            </a:extLst>
          </p:cNvPr>
          <p:cNvSpPr txBox="1"/>
          <p:nvPr/>
        </p:nvSpPr>
        <p:spPr>
          <a:xfrm>
            <a:off x="8483109" y="4683340"/>
            <a:ext cx="660891" cy="307777"/>
          </a:xfrm>
          <a:prstGeom prst="rect">
            <a:avLst/>
          </a:prstGeom>
          <a:noFill/>
        </p:spPr>
        <p:txBody>
          <a:bodyPr wrap="square" rtlCol="0">
            <a:spAutoFit/>
          </a:bodyPr>
          <a:lstStyle/>
          <a:p>
            <a:r>
              <a:rPr lang="fr-FR" dirty="0"/>
              <a:t>2</a:t>
            </a:r>
            <a:endParaRPr lang="fr-CH" dirty="0"/>
          </a:p>
        </p:txBody>
      </p:sp>
      <p:sp>
        <p:nvSpPr>
          <p:cNvPr id="3" name="ZoneTexte 2"/>
          <p:cNvSpPr txBox="1"/>
          <p:nvPr/>
        </p:nvSpPr>
        <p:spPr>
          <a:xfrm>
            <a:off x="3179702" y="4683340"/>
            <a:ext cx="2784296" cy="307777"/>
          </a:xfrm>
          <a:prstGeom prst="rect">
            <a:avLst/>
          </a:prstGeom>
          <a:noFill/>
        </p:spPr>
        <p:txBody>
          <a:bodyPr wrap="square" rtlCol="0">
            <a:spAutoFit/>
          </a:bodyPr>
          <a:lstStyle/>
          <a:p>
            <a:pPr algn="ctr"/>
            <a:r>
              <a:rPr lang="fr-FR" dirty="0">
                <a:latin typeface="Footlight MT Light" panose="0204060206030A020304" pitchFamily="18" charset="0"/>
              </a:rPr>
              <a:t>PFE: Détection des émotions</a:t>
            </a:r>
          </a:p>
        </p:txBody>
      </p:sp>
      <p:sp>
        <p:nvSpPr>
          <p:cNvPr id="4" name="ZoneTexte 3"/>
          <p:cNvSpPr txBox="1"/>
          <p:nvPr/>
        </p:nvSpPr>
        <p:spPr>
          <a:xfrm>
            <a:off x="269297" y="4683340"/>
            <a:ext cx="731290" cy="307777"/>
          </a:xfrm>
          <a:prstGeom prst="rect">
            <a:avLst/>
          </a:prstGeom>
          <a:noFill/>
        </p:spPr>
        <p:txBody>
          <a:bodyPr wrap="none" rtlCol="0">
            <a:spAutoFit/>
          </a:bodyPr>
          <a:lstStyle/>
          <a:p>
            <a:r>
              <a:rPr lang="fr-FR" dirty="0">
                <a:latin typeface="Footlight MT Light" panose="0204060206030A020304" pitchFamily="18" charset="0"/>
              </a:rPr>
              <a:t>SMI-S6</a:t>
            </a:r>
          </a:p>
        </p:txBody>
      </p:sp>
    </p:spTree>
    <p:extLst>
      <p:ext uri="{BB962C8B-B14F-4D97-AF65-F5344CB8AC3E}">
        <p14:creationId xmlns:p14="http://schemas.microsoft.com/office/powerpoint/2010/main" val="1379795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lgn="ctr"/>
            <a:r>
              <a:rPr lang="en-CA" dirty="0">
                <a:latin typeface="Inter"/>
                <a:ea typeface="Inter"/>
                <a:cs typeface="Inter"/>
                <a:sym typeface="Inter"/>
              </a:rPr>
              <a:t>2. </a:t>
            </a:r>
            <a:r>
              <a:rPr lang="en-CA" dirty="0" err="1">
                <a:latin typeface="Inter"/>
                <a:ea typeface="Inter"/>
                <a:cs typeface="Inter"/>
                <a:sym typeface="Inter"/>
              </a:rPr>
              <a:t>Méthodologie</a:t>
            </a:r>
            <a:r>
              <a:rPr lang="en-CA" dirty="0">
                <a:latin typeface="Inter"/>
                <a:ea typeface="Inter"/>
                <a:cs typeface="Inter"/>
                <a:sym typeface="Inter"/>
              </a:rPr>
              <a:t> de travail</a:t>
            </a:r>
          </a:p>
        </p:txBody>
      </p:sp>
      <p:sp>
        <p:nvSpPr>
          <p:cNvPr id="271" name="Google Shape;271;p33"/>
          <p:cNvSpPr txBox="1">
            <a:spLocks noGrp="1"/>
          </p:cNvSpPr>
          <p:nvPr>
            <p:ph type="subTitle" idx="1"/>
          </p:nvPr>
        </p:nvSpPr>
        <p:spPr>
          <a:xfrm>
            <a:off x="485340" y="1717774"/>
            <a:ext cx="5403831" cy="2890726"/>
          </a:xfrm>
          <a:prstGeom prst="rect">
            <a:avLst/>
          </a:prstGeom>
        </p:spPr>
        <p:txBody>
          <a:bodyPr spcFirstLastPara="1" wrap="square" lIns="91425" tIns="91425" rIns="91425" bIns="91425" anchor="t" anchorCtr="0">
            <a:noAutofit/>
          </a:bodyPr>
          <a:lstStyle/>
          <a:p>
            <a:pPr marL="0" lvl="0" indent="0" algn="just">
              <a:lnSpc>
                <a:spcPct val="250000"/>
              </a:lnSpc>
            </a:pPr>
            <a:r>
              <a:rPr lang="fr-FR" dirty="0">
                <a:latin typeface="Comic Sans MS" panose="030F0702030302020204" pitchFamily="66" charset="0"/>
              </a:rPr>
              <a:t>Nous avons opté pour ce type d'architecture en raison du nombre élevé d'entrées que nous aurions eu si nous avions utilisé des réseaux de neurones classiques. De plus, nous disposons d'un grand nombre d'images.</a:t>
            </a:r>
          </a:p>
          <a:p>
            <a:pPr marL="171450" indent="-171450" algn="just">
              <a:lnSpc>
                <a:spcPct val="200000"/>
              </a:lnSpc>
              <a:buFont typeface="Wingdings" panose="05000000000000000000" pitchFamily="2" charset="2"/>
              <a:buChar char="q"/>
            </a:pPr>
            <a:r>
              <a:rPr lang="fr-FR" dirty="0">
                <a:latin typeface="Comic Sans MS" panose="030F0702030302020204" pitchFamily="66" charset="0"/>
              </a:rPr>
              <a:t>une image de dimension 48x48x3 </a:t>
            </a:r>
          </a:p>
          <a:p>
            <a:pPr marL="171450" indent="-171450" algn="just">
              <a:lnSpc>
                <a:spcPct val="200000"/>
              </a:lnSpc>
              <a:buFont typeface="Wingdings" panose="05000000000000000000" pitchFamily="2" charset="2"/>
              <a:buChar char="q"/>
            </a:pPr>
            <a:r>
              <a:rPr lang="en-US" dirty="0">
                <a:latin typeface="Comic Sans MS" panose="030F0702030302020204" pitchFamily="66" charset="0"/>
              </a:rPr>
              <a:t>La sortie de flatten </a:t>
            </a:r>
            <a:r>
              <a:rPr lang="en-US" dirty="0" err="1">
                <a:latin typeface="Comic Sans MS" panose="030F0702030302020204" pitchFamily="66" charset="0"/>
              </a:rPr>
              <a:t>est</a:t>
            </a:r>
            <a:r>
              <a:rPr lang="en-US" dirty="0">
                <a:latin typeface="Comic Sans MS" panose="030F0702030302020204" pitchFamily="66" charset="0"/>
              </a:rPr>
              <a:t> : 48x48x3 = 6912</a:t>
            </a:r>
            <a:endParaRPr lang="fr-FR">
              <a:latin typeface="Comic Sans MS" panose="030F0702030302020204" pitchFamily="66" charset="0"/>
            </a:endParaRPr>
          </a:p>
          <a:p>
            <a:pPr marL="0" lvl="0" indent="0" algn="just">
              <a:lnSpc>
                <a:spcPct val="250000"/>
              </a:lnSpc>
            </a:pPr>
            <a:endParaRPr dirty="0">
              <a:latin typeface="Comic Sans MS" panose="030F0702030302020204" pitchFamily="66" charset="0"/>
            </a:endParaRPr>
          </a:p>
        </p:txBody>
      </p:sp>
      <p:sp>
        <p:nvSpPr>
          <p:cNvPr id="275" name="Google Shape;275;p33"/>
          <p:cNvSpPr txBox="1">
            <a:spLocks noGrp="1"/>
          </p:cNvSpPr>
          <p:nvPr>
            <p:ph type="subTitle" idx="7"/>
          </p:nvPr>
        </p:nvSpPr>
        <p:spPr>
          <a:xfrm>
            <a:off x="485339" y="1320068"/>
            <a:ext cx="4391461" cy="377100"/>
          </a:xfrm>
          <a:prstGeom prst="rect">
            <a:avLst/>
          </a:prstGeom>
        </p:spPr>
        <p:txBody>
          <a:bodyPr spcFirstLastPara="1" wrap="square" lIns="91425" tIns="91425" rIns="91425" bIns="91425" anchor="b" anchorCtr="0">
            <a:noAutofit/>
          </a:bodyPr>
          <a:lstStyle/>
          <a:p>
            <a:pPr marL="0" lvl="0" indent="0" algn="l"/>
            <a:r>
              <a:rPr lang="en-CA" dirty="0">
                <a:latin typeface="Inter"/>
                <a:ea typeface="Inter"/>
                <a:cs typeface="Inter"/>
                <a:sym typeface="Inter"/>
              </a:rPr>
              <a:t>2.1. Justification du </a:t>
            </a:r>
            <a:r>
              <a:rPr lang="en-CA" dirty="0" err="1">
                <a:latin typeface="Inter"/>
                <a:ea typeface="Inter"/>
                <a:cs typeface="Inter"/>
                <a:sym typeface="Inter"/>
              </a:rPr>
              <a:t>choix</a:t>
            </a:r>
            <a:endParaRPr lang="en-CA" dirty="0">
              <a:latin typeface="Inter"/>
              <a:ea typeface="Inter"/>
              <a:cs typeface="Inter"/>
              <a:sym typeface="Inter"/>
            </a:endParaRPr>
          </a:p>
        </p:txBody>
      </p:sp>
      <p:cxnSp>
        <p:nvCxnSpPr>
          <p:cNvPr id="283" name="Google Shape;283;p33"/>
          <p:cNvCxnSpPr/>
          <p:nvPr/>
        </p:nvCxnSpPr>
        <p:spPr>
          <a:xfrm>
            <a:off x="1950" y="44702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4" name="Google Shape;284;p33"/>
          <p:cNvCxnSpPr/>
          <p:nvPr/>
        </p:nvCxnSpPr>
        <p:spPr>
          <a:xfrm>
            <a:off x="1950" y="114707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5" name="Google Shape;285;p33"/>
          <p:cNvCxnSpPr/>
          <p:nvPr/>
        </p:nvCxnSpPr>
        <p:spPr>
          <a:xfrm>
            <a:off x="1950" y="4608500"/>
            <a:ext cx="9139800" cy="0"/>
          </a:xfrm>
          <a:prstGeom prst="straightConnector1">
            <a:avLst/>
          </a:prstGeom>
          <a:noFill/>
          <a:ln w="9525" cap="flat" cmpd="sng">
            <a:solidFill>
              <a:schemeClr val="dk1"/>
            </a:solidFill>
            <a:prstDash val="solid"/>
            <a:round/>
            <a:headEnd type="none" w="med" len="med"/>
            <a:tailEnd type="none" w="med" len="med"/>
          </a:ln>
        </p:spPr>
      </p:cxnSp>
      <p:pic>
        <p:nvPicPr>
          <p:cNvPr id="2" name="Imag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87143" y="1508618"/>
            <a:ext cx="3148139" cy="3064329"/>
          </a:xfrm>
          <a:prstGeom prst="rect">
            <a:avLst/>
          </a:prstGeom>
        </p:spPr>
      </p:pic>
      <p:sp>
        <p:nvSpPr>
          <p:cNvPr id="3" name="Rectangle 2"/>
          <p:cNvSpPr/>
          <p:nvPr/>
        </p:nvSpPr>
        <p:spPr>
          <a:xfrm>
            <a:off x="6945084" y="3337752"/>
            <a:ext cx="711932"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b="1" dirty="0" err="1">
                <a:solidFill>
                  <a:schemeClr val="tx1">
                    <a:lumMod val="95000"/>
                    <a:lumOff val="5000"/>
                  </a:schemeClr>
                </a:solidFill>
              </a:rPr>
              <a:t>vectorisation</a:t>
            </a:r>
            <a:endParaRPr lang="fr-FR" sz="600" b="1" dirty="0">
              <a:solidFill>
                <a:schemeClr val="tx1">
                  <a:lumMod val="95000"/>
                  <a:lumOff val="5000"/>
                </a:schemeClr>
              </a:solidFill>
            </a:endParaRPr>
          </a:p>
        </p:txBody>
      </p:sp>
      <p:sp>
        <p:nvSpPr>
          <p:cNvPr id="4" name="TextBox 3">
            <a:extLst>
              <a:ext uri="{FF2B5EF4-FFF2-40B4-BE49-F238E27FC236}">
                <a16:creationId xmlns:a16="http://schemas.microsoft.com/office/drawing/2014/main" id="{132055A4-86DE-23D2-1259-9EFF263CB9AA}"/>
              </a:ext>
            </a:extLst>
          </p:cNvPr>
          <p:cNvSpPr txBox="1"/>
          <p:nvPr/>
        </p:nvSpPr>
        <p:spPr>
          <a:xfrm>
            <a:off x="8483109" y="4683340"/>
            <a:ext cx="660891" cy="307777"/>
          </a:xfrm>
          <a:prstGeom prst="rect">
            <a:avLst/>
          </a:prstGeom>
          <a:noFill/>
        </p:spPr>
        <p:txBody>
          <a:bodyPr wrap="square" rtlCol="0">
            <a:spAutoFit/>
          </a:bodyPr>
          <a:lstStyle/>
          <a:p>
            <a:r>
              <a:rPr lang="fr-FR" dirty="0"/>
              <a:t>3</a:t>
            </a:r>
            <a:endParaRPr lang="fr-CH" dirty="0"/>
          </a:p>
        </p:txBody>
      </p:sp>
      <p:sp>
        <p:nvSpPr>
          <p:cNvPr id="13" name="ZoneTexte 12"/>
          <p:cNvSpPr txBox="1"/>
          <p:nvPr/>
        </p:nvSpPr>
        <p:spPr>
          <a:xfrm>
            <a:off x="3179702" y="4683340"/>
            <a:ext cx="2784296" cy="307777"/>
          </a:xfrm>
          <a:prstGeom prst="rect">
            <a:avLst/>
          </a:prstGeom>
          <a:noFill/>
        </p:spPr>
        <p:txBody>
          <a:bodyPr wrap="square" rtlCol="0">
            <a:spAutoFit/>
          </a:bodyPr>
          <a:lstStyle/>
          <a:p>
            <a:pPr algn="ctr"/>
            <a:r>
              <a:rPr lang="fr-FR" dirty="0">
                <a:latin typeface="Footlight MT Light" panose="0204060206030A020304" pitchFamily="18" charset="0"/>
              </a:rPr>
              <a:t>PFE: Détection des émotions</a:t>
            </a:r>
          </a:p>
        </p:txBody>
      </p:sp>
      <p:sp>
        <p:nvSpPr>
          <p:cNvPr id="14" name="ZoneTexte 13"/>
          <p:cNvSpPr txBox="1"/>
          <p:nvPr/>
        </p:nvSpPr>
        <p:spPr>
          <a:xfrm>
            <a:off x="269297" y="4683340"/>
            <a:ext cx="731290" cy="307777"/>
          </a:xfrm>
          <a:prstGeom prst="rect">
            <a:avLst/>
          </a:prstGeom>
          <a:noFill/>
        </p:spPr>
        <p:txBody>
          <a:bodyPr wrap="none" rtlCol="0">
            <a:spAutoFit/>
          </a:bodyPr>
          <a:lstStyle/>
          <a:p>
            <a:r>
              <a:rPr lang="fr-FR" dirty="0">
                <a:latin typeface="Footlight MT Light" panose="0204060206030A020304" pitchFamily="18" charset="0"/>
              </a:rPr>
              <a:t>SMI-S6</a:t>
            </a:r>
          </a:p>
        </p:txBody>
      </p:sp>
    </p:spTree>
    <p:extLst>
      <p:ext uri="{BB962C8B-B14F-4D97-AF65-F5344CB8AC3E}">
        <p14:creationId xmlns:p14="http://schemas.microsoft.com/office/powerpoint/2010/main" val="1258366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lgn="ctr"/>
            <a:r>
              <a:rPr lang="en-CA" dirty="0">
                <a:latin typeface="Inter"/>
                <a:ea typeface="Inter"/>
                <a:cs typeface="Inter"/>
                <a:sym typeface="Inter"/>
              </a:rPr>
              <a:t>2. </a:t>
            </a:r>
            <a:r>
              <a:rPr lang="en-CA" dirty="0" err="1">
                <a:latin typeface="Inter"/>
                <a:ea typeface="Inter"/>
                <a:cs typeface="Inter"/>
                <a:sym typeface="Inter"/>
              </a:rPr>
              <a:t>Méthodologie</a:t>
            </a:r>
            <a:r>
              <a:rPr lang="en-CA" dirty="0">
                <a:latin typeface="Inter"/>
                <a:ea typeface="Inter"/>
                <a:cs typeface="Inter"/>
                <a:sym typeface="Inter"/>
              </a:rPr>
              <a:t> de travail</a:t>
            </a:r>
          </a:p>
        </p:txBody>
      </p:sp>
      <p:sp>
        <p:nvSpPr>
          <p:cNvPr id="271" name="Google Shape;271;p33"/>
          <p:cNvSpPr txBox="1">
            <a:spLocks noGrp="1"/>
          </p:cNvSpPr>
          <p:nvPr>
            <p:ph type="subTitle" idx="1"/>
          </p:nvPr>
        </p:nvSpPr>
        <p:spPr>
          <a:xfrm>
            <a:off x="485339" y="1717774"/>
            <a:ext cx="8506261" cy="2890726"/>
          </a:xfrm>
          <a:prstGeom prst="rect">
            <a:avLst/>
          </a:prstGeom>
        </p:spPr>
        <p:txBody>
          <a:bodyPr spcFirstLastPara="1" wrap="square" lIns="91425" tIns="91425" rIns="91425" bIns="91425" anchor="t" anchorCtr="0">
            <a:noAutofit/>
          </a:bodyPr>
          <a:lstStyle/>
          <a:p>
            <a:pPr marL="0" lvl="0" indent="0" algn="just">
              <a:lnSpc>
                <a:spcPct val="250000"/>
              </a:lnSpc>
            </a:pPr>
            <a:r>
              <a:rPr lang="fr-FR" dirty="0">
                <a:latin typeface="Comic Sans MS" panose="030F0702030302020204" pitchFamily="66" charset="0"/>
              </a:rPr>
              <a:t> Un réseau de neurones convolutif (CNN ou </a:t>
            </a:r>
            <a:r>
              <a:rPr lang="fr-FR" dirty="0" err="1">
                <a:latin typeface="Comic Sans MS" panose="030F0702030302020204" pitchFamily="66" charset="0"/>
              </a:rPr>
              <a:t>ConvNet</a:t>
            </a:r>
            <a:r>
              <a:rPr lang="fr-FR" dirty="0">
                <a:latin typeface="Comic Sans MS" panose="030F0702030302020204" pitchFamily="66" charset="0"/>
              </a:rPr>
              <a:t>) est une architecture réseau pour le Deep Learning qui apprend directement à partir des données. </a:t>
            </a:r>
            <a:endParaRPr dirty="0">
              <a:latin typeface="Comic Sans MS" panose="030F0702030302020204" pitchFamily="66" charset="0"/>
            </a:endParaRPr>
          </a:p>
        </p:txBody>
      </p:sp>
      <p:sp>
        <p:nvSpPr>
          <p:cNvPr id="275" name="Google Shape;275;p33"/>
          <p:cNvSpPr txBox="1">
            <a:spLocks noGrp="1"/>
          </p:cNvSpPr>
          <p:nvPr>
            <p:ph type="subTitle" idx="7"/>
          </p:nvPr>
        </p:nvSpPr>
        <p:spPr>
          <a:xfrm>
            <a:off x="485339" y="1320068"/>
            <a:ext cx="8321204" cy="377100"/>
          </a:xfrm>
          <a:prstGeom prst="rect">
            <a:avLst/>
          </a:prstGeom>
        </p:spPr>
        <p:txBody>
          <a:bodyPr spcFirstLastPara="1" wrap="square" lIns="91425" tIns="91425" rIns="91425" bIns="91425" anchor="b" anchorCtr="0">
            <a:noAutofit/>
          </a:bodyPr>
          <a:lstStyle/>
          <a:p>
            <a:pPr marL="0" lvl="0" indent="0" algn="l"/>
            <a:r>
              <a:rPr lang="en-CA" dirty="0">
                <a:latin typeface="Inter"/>
                <a:ea typeface="Inter"/>
                <a:cs typeface="Inter"/>
                <a:sym typeface="Inter"/>
              </a:rPr>
              <a:t>2.2. Les r</a:t>
            </a:r>
            <a:r>
              <a:rPr lang="fr-FR" dirty="0" err="1">
                <a:latin typeface="Inter"/>
                <a:ea typeface="Inter"/>
                <a:cs typeface="Inter"/>
                <a:sym typeface="Inter"/>
              </a:rPr>
              <a:t>éseaux</a:t>
            </a:r>
            <a:r>
              <a:rPr lang="fr-FR" dirty="0">
                <a:latin typeface="Inter"/>
                <a:ea typeface="Inter"/>
                <a:cs typeface="Inter"/>
                <a:sym typeface="Inter"/>
              </a:rPr>
              <a:t> de neurones convolutifs (CNN)</a:t>
            </a:r>
            <a:endParaRPr lang="en-CA" dirty="0">
              <a:latin typeface="Inter"/>
              <a:ea typeface="Inter"/>
              <a:cs typeface="Inter"/>
              <a:sym typeface="Inter"/>
            </a:endParaRPr>
          </a:p>
        </p:txBody>
      </p:sp>
      <p:cxnSp>
        <p:nvCxnSpPr>
          <p:cNvPr id="283" name="Google Shape;283;p33"/>
          <p:cNvCxnSpPr/>
          <p:nvPr/>
        </p:nvCxnSpPr>
        <p:spPr>
          <a:xfrm>
            <a:off x="1950" y="44702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4" name="Google Shape;284;p33"/>
          <p:cNvCxnSpPr/>
          <p:nvPr/>
        </p:nvCxnSpPr>
        <p:spPr>
          <a:xfrm>
            <a:off x="1950" y="114707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5" name="Google Shape;285;p33"/>
          <p:cNvCxnSpPr/>
          <p:nvPr/>
        </p:nvCxnSpPr>
        <p:spPr>
          <a:xfrm>
            <a:off x="1950" y="4608500"/>
            <a:ext cx="9139800" cy="0"/>
          </a:xfrm>
          <a:prstGeom prst="straightConnector1">
            <a:avLst/>
          </a:prstGeom>
          <a:noFill/>
          <a:ln w="9525" cap="flat" cmpd="sng">
            <a:solidFill>
              <a:schemeClr val="dk1"/>
            </a:solidFill>
            <a:prstDash val="solid"/>
            <a:round/>
            <a:headEnd type="none" w="med" len="med"/>
            <a:tailEnd type="none" w="med" len="med"/>
          </a:ln>
        </p:spPr>
      </p:cxnSp>
      <p:pic>
        <p:nvPicPr>
          <p:cNvPr id="2" name="Imag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339" y="2733331"/>
            <a:ext cx="8572499" cy="1875169"/>
          </a:xfrm>
          <a:prstGeom prst="rect">
            <a:avLst/>
          </a:prstGeom>
        </p:spPr>
      </p:pic>
      <p:sp>
        <p:nvSpPr>
          <p:cNvPr id="3" name="TextBox 2">
            <a:extLst>
              <a:ext uri="{FF2B5EF4-FFF2-40B4-BE49-F238E27FC236}">
                <a16:creationId xmlns:a16="http://schemas.microsoft.com/office/drawing/2014/main" id="{2608B5F3-F71C-1A2F-48AA-1538BDD91645}"/>
              </a:ext>
            </a:extLst>
          </p:cNvPr>
          <p:cNvSpPr txBox="1"/>
          <p:nvPr/>
        </p:nvSpPr>
        <p:spPr>
          <a:xfrm>
            <a:off x="8483109" y="4683340"/>
            <a:ext cx="660891" cy="307777"/>
          </a:xfrm>
          <a:prstGeom prst="rect">
            <a:avLst/>
          </a:prstGeom>
          <a:noFill/>
        </p:spPr>
        <p:txBody>
          <a:bodyPr wrap="square" rtlCol="0">
            <a:spAutoFit/>
          </a:bodyPr>
          <a:lstStyle/>
          <a:p>
            <a:r>
              <a:rPr lang="fr-FR" dirty="0"/>
              <a:t>4</a:t>
            </a:r>
            <a:endParaRPr lang="fr-CH" dirty="0"/>
          </a:p>
        </p:txBody>
      </p:sp>
      <p:sp>
        <p:nvSpPr>
          <p:cNvPr id="10" name="ZoneTexte 9"/>
          <p:cNvSpPr txBox="1"/>
          <p:nvPr/>
        </p:nvSpPr>
        <p:spPr>
          <a:xfrm>
            <a:off x="3179702" y="4683340"/>
            <a:ext cx="2784296" cy="307777"/>
          </a:xfrm>
          <a:prstGeom prst="rect">
            <a:avLst/>
          </a:prstGeom>
          <a:noFill/>
        </p:spPr>
        <p:txBody>
          <a:bodyPr wrap="square" rtlCol="0">
            <a:spAutoFit/>
          </a:bodyPr>
          <a:lstStyle/>
          <a:p>
            <a:pPr algn="ctr"/>
            <a:r>
              <a:rPr lang="fr-FR" dirty="0">
                <a:latin typeface="Footlight MT Light" panose="0204060206030A020304" pitchFamily="18" charset="0"/>
              </a:rPr>
              <a:t>PFE: Détection des émotions</a:t>
            </a:r>
          </a:p>
        </p:txBody>
      </p:sp>
      <p:sp>
        <p:nvSpPr>
          <p:cNvPr id="11" name="ZoneTexte 10"/>
          <p:cNvSpPr txBox="1"/>
          <p:nvPr/>
        </p:nvSpPr>
        <p:spPr>
          <a:xfrm>
            <a:off x="269297" y="4683340"/>
            <a:ext cx="731290" cy="307777"/>
          </a:xfrm>
          <a:prstGeom prst="rect">
            <a:avLst/>
          </a:prstGeom>
          <a:noFill/>
        </p:spPr>
        <p:txBody>
          <a:bodyPr wrap="none" rtlCol="0">
            <a:spAutoFit/>
          </a:bodyPr>
          <a:lstStyle/>
          <a:p>
            <a:r>
              <a:rPr lang="fr-FR" dirty="0">
                <a:latin typeface="Footlight MT Light" panose="0204060206030A020304" pitchFamily="18" charset="0"/>
              </a:rPr>
              <a:t>SMI-S6</a:t>
            </a:r>
          </a:p>
        </p:txBody>
      </p:sp>
    </p:spTree>
    <p:extLst>
      <p:ext uri="{BB962C8B-B14F-4D97-AF65-F5344CB8AC3E}">
        <p14:creationId xmlns:p14="http://schemas.microsoft.com/office/powerpoint/2010/main" val="4294693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lgn="ctr"/>
            <a:r>
              <a:rPr lang="en-CA" dirty="0">
                <a:latin typeface="Inter"/>
                <a:ea typeface="Inter"/>
                <a:cs typeface="Inter"/>
                <a:sym typeface="Inter"/>
              </a:rPr>
              <a:t>2. </a:t>
            </a:r>
            <a:r>
              <a:rPr lang="en-CA" dirty="0" err="1">
                <a:latin typeface="Inter"/>
                <a:ea typeface="Inter"/>
                <a:cs typeface="Inter"/>
                <a:sym typeface="Inter"/>
              </a:rPr>
              <a:t>Méthodologie</a:t>
            </a:r>
            <a:r>
              <a:rPr lang="en-CA" dirty="0">
                <a:latin typeface="Inter"/>
                <a:ea typeface="Inter"/>
                <a:cs typeface="Inter"/>
                <a:sym typeface="Inter"/>
              </a:rPr>
              <a:t> de travail</a:t>
            </a:r>
          </a:p>
        </p:txBody>
      </p:sp>
      <p:sp>
        <p:nvSpPr>
          <p:cNvPr id="271" name="Google Shape;271;p33"/>
          <p:cNvSpPr txBox="1">
            <a:spLocks noGrp="1"/>
          </p:cNvSpPr>
          <p:nvPr>
            <p:ph type="subTitle" idx="1"/>
          </p:nvPr>
        </p:nvSpPr>
        <p:spPr>
          <a:xfrm>
            <a:off x="485339" y="1717774"/>
            <a:ext cx="8506261" cy="2890726"/>
          </a:xfrm>
          <a:prstGeom prst="rect">
            <a:avLst/>
          </a:prstGeom>
        </p:spPr>
        <p:txBody>
          <a:bodyPr spcFirstLastPara="1" wrap="square" lIns="91425" tIns="91425" rIns="91425" bIns="91425" anchor="t" anchorCtr="0">
            <a:noAutofit/>
          </a:bodyPr>
          <a:lstStyle/>
          <a:p>
            <a:pPr marL="0" lvl="0" indent="0" algn="just">
              <a:lnSpc>
                <a:spcPct val="200000"/>
              </a:lnSpc>
            </a:pPr>
            <a:r>
              <a:rPr lang="fr-FR" dirty="0">
                <a:latin typeface="Comic Sans MS" panose="030F0702030302020204" pitchFamily="66" charset="0"/>
              </a:rPr>
              <a:t>Ce genre de réseaux de neurones est réputé pour son efficacité dans l'extraction des caractéristiques présentés dans les images fournies, grâce à ses diverses couches, telles que: </a:t>
            </a:r>
          </a:p>
          <a:p>
            <a:pPr marL="171450" lvl="0" indent="-171450" algn="just">
              <a:lnSpc>
                <a:spcPct val="200000"/>
              </a:lnSpc>
              <a:buFont typeface="Arial" panose="020B0604020202020204" pitchFamily="34" charset="0"/>
              <a:buChar char="•"/>
            </a:pPr>
            <a:r>
              <a:rPr lang="fr-FR" b="1" dirty="0">
                <a:latin typeface="Comic Sans MS" panose="030F0702030302020204" pitchFamily="66" charset="0"/>
              </a:rPr>
              <a:t>La couche de convolution; </a:t>
            </a:r>
          </a:p>
          <a:p>
            <a:pPr marL="171450" lvl="0" indent="-171450" algn="just">
              <a:lnSpc>
                <a:spcPct val="200000"/>
              </a:lnSpc>
              <a:buFont typeface="Arial" panose="020B0604020202020204" pitchFamily="34" charset="0"/>
              <a:buChar char="•"/>
            </a:pPr>
            <a:r>
              <a:rPr lang="fr-FR" b="1" dirty="0">
                <a:latin typeface="Comic Sans MS" panose="030F0702030302020204" pitchFamily="66" charset="0"/>
              </a:rPr>
              <a:t>La couche de correction </a:t>
            </a:r>
            <a:r>
              <a:rPr lang="fr-FR" b="1" dirty="0" err="1">
                <a:latin typeface="Comic Sans MS" panose="030F0702030302020204" pitchFamily="66" charset="0"/>
              </a:rPr>
              <a:t>ReLU</a:t>
            </a:r>
            <a:r>
              <a:rPr lang="fr-FR" b="1" dirty="0">
                <a:latin typeface="Comic Sans MS" panose="030F0702030302020204" pitchFamily="66" charset="0"/>
              </a:rPr>
              <a:t>;</a:t>
            </a:r>
          </a:p>
          <a:p>
            <a:pPr marL="171450" lvl="0" indent="-171450" algn="just">
              <a:lnSpc>
                <a:spcPct val="200000"/>
              </a:lnSpc>
              <a:buFont typeface="Arial" panose="020B0604020202020204" pitchFamily="34" charset="0"/>
              <a:buChar char="•"/>
            </a:pPr>
            <a:r>
              <a:rPr lang="fr-FR" b="1" dirty="0">
                <a:latin typeface="Comic Sans MS" panose="030F0702030302020204" pitchFamily="66" charset="0"/>
              </a:rPr>
              <a:t>La couche de </a:t>
            </a:r>
            <a:r>
              <a:rPr lang="fr-FR" b="1" dirty="0" err="1">
                <a:latin typeface="Comic Sans MS" panose="030F0702030302020204" pitchFamily="66" charset="0"/>
              </a:rPr>
              <a:t>pooling</a:t>
            </a:r>
            <a:r>
              <a:rPr lang="fr-FR" b="1" dirty="0">
                <a:latin typeface="Comic Sans MS" panose="030F0702030302020204" pitchFamily="66" charset="0"/>
              </a:rPr>
              <a:t>;</a:t>
            </a:r>
          </a:p>
          <a:p>
            <a:pPr marL="171450" lvl="0" indent="-171450" algn="just">
              <a:lnSpc>
                <a:spcPct val="200000"/>
              </a:lnSpc>
              <a:buFont typeface="Arial" panose="020B0604020202020204" pitchFamily="34" charset="0"/>
              <a:buChar char="•"/>
            </a:pPr>
            <a:r>
              <a:rPr lang="fr-FR" b="1" dirty="0">
                <a:latin typeface="Comic Sans MS" panose="030F0702030302020204" pitchFamily="66" charset="0"/>
              </a:rPr>
              <a:t>La couche entièrement connectée.</a:t>
            </a:r>
            <a:endParaRPr b="1" dirty="0">
              <a:latin typeface="Comic Sans MS" panose="030F0702030302020204" pitchFamily="66" charset="0"/>
            </a:endParaRPr>
          </a:p>
        </p:txBody>
      </p:sp>
      <p:sp>
        <p:nvSpPr>
          <p:cNvPr id="275" name="Google Shape;275;p33"/>
          <p:cNvSpPr txBox="1">
            <a:spLocks noGrp="1"/>
          </p:cNvSpPr>
          <p:nvPr>
            <p:ph type="subTitle" idx="7"/>
          </p:nvPr>
        </p:nvSpPr>
        <p:spPr>
          <a:xfrm>
            <a:off x="485339" y="1320068"/>
            <a:ext cx="8321204" cy="377100"/>
          </a:xfrm>
          <a:prstGeom prst="rect">
            <a:avLst/>
          </a:prstGeom>
        </p:spPr>
        <p:txBody>
          <a:bodyPr spcFirstLastPara="1" wrap="square" lIns="91425" tIns="91425" rIns="91425" bIns="91425" anchor="b" anchorCtr="0">
            <a:noAutofit/>
          </a:bodyPr>
          <a:lstStyle/>
          <a:p>
            <a:pPr marL="0" lvl="0" indent="0" algn="l"/>
            <a:r>
              <a:rPr lang="fr-FR" dirty="0">
                <a:latin typeface="Inter"/>
                <a:ea typeface="Inter"/>
                <a:cs typeface="Inter"/>
                <a:sym typeface="Inter"/>
              </a:rPr>
              <a:t> 2.3. Architectures de CNN</a:t>
            </a:r>
            <a:endParaRPr lang="en-CA" dirty="0">
              <a:latin typeface="Inter"/>
              <a:ea typeface="Inter"/>
              <a:cs typeface="Inter"/>
              <a:sym typeface="Inter"/>
            </a:endParaRPr>
          </a:p>
        </p:txBody>
      </p:sp>
      <p:cxnSp>
        <p:nvCxnSpPr>
          <p:cNvPr id="283" name="Google Shape;283;p33"/>
          <p:cNvCxnSpPr/>
          <p:nvPr/>
        </p:nvCxnSpPr>
        <p:spPr>
          <a:xfrm>
            <a:off x="1950" y="44702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4" name="Google Shape;284;p33"/>
          <p:cNvCxnSpPr/>
          <p:nvPr/>
        </p:nvCxnSpPr>
        <p:spPr>
          <a:xfrm>
            <a:off x="1950" y="114707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5" name="Google Shape;285;p33"/>
          <p:cNvCxnSpPr/>
          <p:nvPr/>
        </p:nvCxnSpPr>
        <p:spPr>
          <a:xfrm>
            <a:off x="1950" y="4608500"/>
            <a:ext cx="9139800" cy="0"/>
          </a:xfrm>
          <a:prstGeom prst="straightConnector1">
            <a:avLst/>
          </a:prstGeom>
          <a:noFill/>
          <a:ln w="9525" cap="flat" cmpd="sng">
            <a:solidFill>
              <a:schemeClr val="dk1"/>
            </a:solidFill>
            <a:prstDash val="solid"/>
            <a:round/>
            <a:headEnd type="none" w="med" len="med"/>
            <a:tailEnd type="none" w="med" len="med"/>
          </a:ln>
        </p:spPr>
      </p:cxnSp>
      <p:sp>
        <p:nvSpPr>
          <p:cNvPr id="2" name="TextBox 1">
            <a:extLst>
              <a:ext uri="{FF2B5EF4-FFF2-40B4-BE49-F238E27FC236}">
                <a16:creationId xmlns:a16="http://schemas.microsoft.com/office/drawing/2014/main" id="{373B36E4-C6B7-C020-0957-48BBC857345C}"/>
              </a:ext>
            </a:extLst>
          </p:cNvPr>
          <p:cNvSpPr txBox="1"/>
          <p:nvPr/>
        </p:nvSpPr>
        <p:spPr>
          <a:xfrm>
            <a:off x="8483109" y="4683340"/>
            <a:ext cx="660891" cy="307777"/>
          </a:xfrm>
          <a:prstGeom prst="rect">
            <a:avLst/>
          </a:prstGeom>
          <a:noFill/>
        </p:spPr>
        <p:txBody>
          <a:bodyPr wrap="square" rtlCol="0">
            <a:spAutoFit/>
          </a:bodyPr>
          <a:lstStyle/>
          <a:p>
            <a:r>
              <a:rPr lang="fr-FR" dirty="0"/>
              <a:t>5</a:t>
            </a:r>
            <a:endParaRPr lang="fr-CH" dirty="0"/>
          </a:p>
        </p:txBody>
      </p:sp>
      <p:sp>
        <p:nvSpPr>
          <p:cNvPr id="9" name="ZoneTexte 8"/>
          <p:cNvSpPr txBox="1"/>
          <p:nvPr/>
        </p:nvSpPr>
        <p:spPr>
          <a:xfrm>
            <a:off x="3179702" y="4683340"/>
            <a:ext cx="2784296" cy="307777"/>
          </a:xfrm>
          <a:prstGeom prst="rect">
            <a:avLst/>
          </a:prstGeom>
          <a:noFill/>
        </p:spPr>
        <p:txBody>
          <a:bodyPr wrap="square" rtlCol="0">
            <a:spAutoFit/>
          </a:bodyPr>
          <a:lstStyle/>
          <a:p>
            <a:pPr algn="ctr"/>
            <a:r>
              <a:rPr lang="fr-FR" dirty="0">
                <a:latin typeface="Footlight MT Light" panose="0204060206030A020304" pitchFamily="18" charset="0"/>
              </a:rPr>
              <a:t>PFE: Détection des émotions</a:t>
            </a:r>
          </a:p>
        </p:txBody>
      </p:sp>
      <p:sp>
        <p:nvSpPr>
          <p:cNvPr id="10" name="ZoneTexte 9"/>
          <p:cNvSpPr txBox="1"/>
          <p:nvPr/>
        </p:nvSpPr>
        <p:spPr>
          <a:xfrm>
            <a:off x="269297" y="4683340"/>
            <a:ext cx="731290" cy="307777"/>
          </a:xfrm>
          <a:prstGeom prst="rect">
            <a:avLst/>
          </a:prstGeom>
          <a:noFill/>
        </p:spPr>
        <p:txBody>
          <a:bodyPr wrap="none" rtlCol="0">
            <a:spAutoFit/>
          </a:bodyPr>
          <a:lstStyle/>
          <a:p>
            <a:r>
              <a:rPr lang="fr-FR" dirty="0">
                <a:latin typeface="Footlight MT Light" panose="0204060206030A020304" pitchFamily="18" charset="0"/>
              </a:rPr>
              <a:t>SMI-S6</a:t>
            </a:r>
          </a:p>
        </p:txBody>
      </p:sp>
    </p:spTree>
    <p:extLst>
      <p:ext uri="{BB962C8B-B14F-4D97-AF65-F5344CB8AC3E}">
        <p14:creationId xmlns:p14="http://schemas.microsoft.com/office/powerpoint/2010/main" val="27687363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lgn="ctr"/>
            <a:r>
              <a:rPr lang="en-CA" dirty="0">
                <a:latin typeface="Inter"/>
                <a:ea typeface="Inter"/>
                <a:cs typeface="Inter"/>
                <a:sym typeface="Inter"/>
              </a:rPr>
              <a:t>2. </a:t>
            </a:r>
            <a:r>
              <a:rPr lang="en-CA" dirty="0" err="1">
                <a:latin typeface="Inter"/>
                <a:ea typeface="Inter"/>
                <a:cs typeface="Inter"/>
                <a:sym typeface="Inter"/>
              </a:rPr>
              <a:t>Méthodologie</a:t>
            </a:r>
            <a:r>
              <a:rPr lang="en-CA" dirty="0">
                <a:latin typeface="Inter"/>
                <a:ea typeface="Inter"/>
                <a:cs typeface="Inter"/>
                <a:sym typeface="Inter"/>
              </a:rPr>
              <a:t> de travail</a:t>
            </a:r>
          </a:p>
        </p:txBody>
      </p:sp>
      <p:sp>
        <p:nvSpPr>
          <p:cNvPr id="271" name="Google Shape;271;p33"/>
          <p:cNvSpPr txBox="1">
            <a:spLocks noGrp="1"/>
          </p:cNvSpPr>
          <p:nvPr>
            <p:ph type="subTitle" idx="1"/>
          </p:nvPr>
        </p:nvSpPr>
        <p:spPr>
          <a:xfrm>
            <a:off x="485340" y="1717774"/>
            <a:ext cx="3740568" cy="2603822"/>
          </a:xfrm>
          <a:prstGeom prst="rect">
            <a:avLst/>
          </a:prstGeom>
        </p:spPr>
        <p:txBody>
          <a:bodyPr spcFirstLastPara="1" wrap="square" lIns="91425" tIns="91425" rIns="91425" bIns="91425" anchor="t" anchorCtr="0">
            <a:noAutofit/>
          </a:bodyPr>
          <a:lstStyle/>
          <a:p>
            <a:pPr marL="0" indent="0" algn="just">
              <a:lnSpc>
                <a:spcPct val="200000"/>
              </a:lnSpc>
            </a:pPr>
            <a:r>
              <a:rPr lang="fr-FR" b="1" dirty="0">
                <a:latin typeface="Comic Sans MS" panose="030F0702030302020204" pitchFamily="66" charset="0"/>
              </a:rPr>
              <a:t>La couche de convolution:</a:t>
            </a:r>
          </a:p>
          <a:p>
            <a:pPr marL="0" indent="0" algn="just">
              <a:lnSpc>
                <a:spcPct val="200000"/>
              </a:lnSpc>
            </a:pPr>
            <a:r>
              <a:rPr lang="fr-FR" dirty="0">
                <a:latin typeface="Comic Sans MS" panose="030F0702030302020204" pitchFamily="66" charset="0"/>
              </a:rPr>
              <a:t>La convolution est une opération mathématique simple généralement utilisée pour le traitement et la reconnaissance d’image.</a:t>
            </a:r>
          </a:p>
          <a:p>
            <a:pPr marL="0" indent="0" algn="just">
              <a:lnSpc>
                <a:spcPct val="200000"/>
              </a:lnSpc>
            </a:pPr>
            <a:endParaRPr lang="fr-FR" dirty="0">
              <a:latin typeface="Comic Sans MS" panose="030F0702030302020204" pitchFamily="66" charset="0"/>
            </a:endParaRPr>
          </a:p>
        </p:txBody>
      </p:sp>
      <p:sp>
        <p:nvSpPr>
          <p:cNvPr id="275" name="Google Shape;275;p33"/>
          <p:cNvSpPr txBox="1">
            <a:spLocks noGrp="1"/>
          </p:cNvSpPr>
          <p:nvPr>
            <p:ph type="subTitle" idx="7"/>
          </p:nvPr>
        </p:nvSpPr>
        <p:spPr>
          <a:xfrm>
            <a:off x="485339" y="1320068"/>
            <a:ext cx="8321204" cy="377100"/>
          </a:xfrm>
          <a:prstGeom prst="rect">
            <a:avLst/>
          </a:prstGeom>
        </p:spPr>
        <p:txBody>
          <a:bodyPr spcFirstLastPara="1" wrap="square" lIns="91425" tIns="91425" rIns="91425" bIns="91425" anchor="b" anchorCtr="0">
            <a:noAutofit/>
          </a:bodyPr>
          <a:lstStyle/>
          <a:p>
            <a:pPr marL="0" lvl="0" indent="0" algn="l"/>
            <a:r>
              <a:rPr lang="fr-FR" dirty="0">
                <a:latin typeface="Inter"/>
                <a:ea typeface="Inter"/>
                <a:cs typeface="Inter"/>
                <a:sym typeface="Inter"/>
              </a:rPr>
              <a:t> 2.3. Architectures de CNN</a:t>
            </a:r>
            <a:endParaRPr lang="en-CA" dirty="0">
              <a:latin typeface="Inter"/>
              <a:ea typeface="Inter"/>
              <a:cs typeface="Inter"/>
              <a:sym typeface="Inter"/>
            </a:endParaRPr>
          </a:p>
        </p:txBody>
      </p:sp>
      <p:cxnSp>
        <p:nvCxnSpPr>
          <p:cNvPr id="283" name="Google Shape;283;p33"/>
          <p:cNvCxnSpPr/>
          <p:nvPr/>
        </p:nvCxnSpPr>
        <p:spPr>
          <a:xfrm>
            <a:off x="1950" y="44702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4" name="Google Shape;284;p33"/>
          <p:cNvCxnSpPr/>
          <p:nvPr/>
        </p:nvCxnSpPr>
        <p:spPr>
          <a:xfrm>
            <a:off x="1950" y="114707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5" name="Google Shape;285;p33"/>
          <p:cNvCxnSpPr/>
          <p:nvPr/>
        </p:nvCxnSpPr>
        <p:spPr>
          <a:xfrm>
            <a:off x="1950" y="4608500"/>
            <a:ext cx="9139800" cy="0"/>
          </a:xfrm>
          <a:prstGeom prst="straightConnector1">
            <a:avLst/>
          </a:prstGeom>
          <a:noFill/>
          <a:ln w="9525" cap="flat" cmpd="sng">
            <a:solidFill>
              <a:schemeClr val="dk1"/>
            </a:solidFill>
            <a:prstDash val="solid"/>
            <a:round/>
            <a:headEnd type="none" w="med" len="med"/>
            <a:tailEnd type="none" w="med" len="med"/>
          </a:ln>
        </p:spPr>
      </p:cxnSp>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5907" y="1433980"/>
            <a:ext cx="5249082" cy="3458314"/>
          </a:xfrm>
          <a:prstGeom prst="rect">
            <a:avLst/>
          </a:prstGeom>
        </p:spPr>
      </p:pic>
      <p:sp>
        <p:nvSpPr>
          <p:cNvPr id="2" name="TextBox 1">
            <a:extLst>
              <a:ext uri="{FF2B5EF4-FFF2-40B4-BE49-F238E27FC236}">
                <a16:creationId xmlns:a16="http://schemas.microsoft.com/office/drawing/2014/main" id="{08F92265-B72F-6FDE-3109-E065A7B9DFD5}"/>
              </a:ext>
            </a:extLst>
          </p:cNvPr>
          <p:cNvSpPr txBox="1"/>
          <p:nvPr/>
        </p:nvSpPr>
        <p:spPr>
          <a:xfrm>
            <a:off x="8483109" y="4683340"/>
            <a:ext cx="660891" cy="307777"/>
          </a:xfrm>
          <a:prstGeom prst="rect">
            <a:avLst/>
          </a:prstGeom>
          <a:noFill/>
        </p:spPr>
        <p:txBody>
          <a:bodyPr wrap="square" rtlCol="0">
            <a:spAutoFit/>
          </a:bodyPr>
          <a:lstStyle/>
          <a:p>
            <a:r>
              <a:rPr lang="fr-FR" dirty="0"/>
              <a:t>6</a:t>
            </a:r>
            <a:endParaRPr lang="fr-CH" dirty="0"/>
          </a:p>
        </p:txBody>
      </p:sp>
      <p:sp>
        <p:nvSpPr>
          <p:cNvPr id="10" name="ZoneTexte 9"/>
          <p:cNvSpPr txBox="1"/>
          <p:nvPr/>
        </p:nvSpPr>
        <p:spPr>
          <a:xfrm>
            <a:off x="3179702" y="4683340"/>
            <a:ext cx="2784296" cy="307777"/>
          </a:xfrm>
          <a:prstGeom prst="rect">
            <a:avLst/>
          </a:prstGeom>
          <a:noFill/>
        </p:spPr>
        <p:txBody>
          <a:bodyPr wrap="square" rtlCol="0">
            <a:spAutoFit/>
          </a:bodyPr>
          <a:lstStyle/>
          <a:p>
            <a:pPr algn="ctr"/>
            <a:r>
              <a:rPr lang="fr-FR" dirty="0">
                <a:latin typeface="Footlight MT Light" panose="0204060206030A020304" pitchFamily="18" charset="0"/>
              </a:rPr>
              <a:t>PFE: Détection des émotions</a:t>
            </a:r>
          </a:p>
        </p:txBody>
      </p:sp>
      <p:sp>
        <p:nvSpPr>
          <p:cNvPr id="11" name="ZoneTexte 10"/>
          <p:cNvSpPr txBox="1"/>
          <p:nvPr/>
        </p:nvSpPr>
        <p:spPr>
          <a:xfrm>
            <a:off x="269297" y="4683340"/>
            <a:ext cx="731290" cy="307777"/>
          </a:xfrm>
          <a:prstGeom prst="rect">
            <a:avLst/>
          </a:prstGeom>
          <a:noFill/>
        </p:spPr>
        <p:txBody>
          <a:bodyPr wrap="none" rtlCol="0">
            <a:spAutoFit/>
          </a:bodyPr>
          <a:lstStyle/>
          <a:p>
            <a:r>
              <a:rPr lang="fr-FR" dirty="0">
                <a:latin typeface="Footlight MT Light" panose="0204060206030A020304" pitchFamily="18" charset="0"/>
              </a:rPr>
              <a:t>SMI-S6</a:t>
            </a:r>
          </a:p>
        </p:txBody>
      </p:sp>
    </p:spTree>
    <p:extLst>
      <p:ext uri="{BB962C8B-B14F-4D97-AF65-F5344CB8AC3E}">
        <p14:creationId xmlns:p14="http://schemas.microsoft.com/office/powerpoint/2010/main" val="2767239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lgn="ctr"/>
            <a:r>
              <a:rPr lang="en-CA" dirty="0">
                <a:latin typeface="Inter"/>
                <a:ea typeface="Inter"/>
                <a:cs typeface="Inter"/>
                <a:sym typeface="Inter"/>
              </a:rPr>
              <a:t>2. M</a:t>
            </a:r>
            <a:r>
              <a:rPr lang="fr-FR" dirty="0">
                <a:latin typeface="Inter"/>
                <a:ea typeface="Inter"/>
                <a:cs typeface="Inter"/>
                <a:sym typeface="Inter"/>
              </a:rPr>
              <a:t>é</a:t>
            </a:r>
            <a:r>
              <a:rPr lang="en-CA" dirty="0" err="1">
                <a:latin typeface="Inter"/>
                <a:ea typeface="Inter"/>
                <a:cs typeface="Inter"/>
                <a:sym typeface="Inter"/>
              </a:rPr>
              <a:t>thodologie</a:t>
            </a:r>
            <a:r>
              <a:rPr lang="en-CA" dirty="0">
                <a:latin typeface="Inter"/>
                <a:ea typeface="Inter"/>
                <a:cs typeface="Inter"/>
                <a:sym typeface="Inter"/>
              </a:rPr>
              <a:t> de travail</a:t>
            </a:r>
          </a:p>
        </p:txBody>
      </p:sp>
      <p:sp>
        <p:nvSpPr>
          <p:cNvPr id="271" name="Google Shape;271;p33"/>
          <p:cNvSpPr txBox="1">
            <a:spLocks noGrp="1"/>
          </p:cNvSpPr>
          <p:nvPr>
            <p:ph type="subTitle" idx="1"/>
          </p:nvPr>
        </p:nvSpPr>
        <p:spPr>
          <a:xfrm>
            <a:off x="485340" y="1717774"/>
            <a:ext cx="5251432" cy="2890726"/>
          </a:xfrm>
          <a:prstGeom prst="rect">
            <a:avLst/>
          </a:prstGeom>
        </p:spPr>
        <p:txBody>
          <a:bodyPr spcFirstLastPara="1" wrap="square" lIns="91425" tIns="91425" rIns="91425" bIns="91425" anchor="t" anchorCtr="0">
            <a:noAutofit/>
          </a:bodyPr>
          <a:lstStyle/>
          <a:p>
            <a:pPr marL="0" indent="0" algn="just">
              <a:lnSpc>
                <a:spcPct val="200000"/>
              </a:lnSpc>
            </a:pPr>
            <a:r>
              <a:rPr lang="fr-FR" b="1" dirty="0">
                <a:latin typeface="Comic Sans MS" panose="030F0702030302020204" pitchFamily="66" charset="0"/>
              </a:rPr>
              <a:t>La couche de correction </a:t>
            </a:r>
            <a:r>
              <a:rPr lang="fr-FR" b="1" dirty="0" err="1">
                <a:latin typeface="Comic Sans MS" panose="030F0702030302020204" pitchFamily="66" charset="0"/>
              </a:rPr>
              <a:t>ReLU</a:t>
            </a:r>
            <a:r>
              <a:rPr lang="fr-FR" b="1" dirty="0">
                <a:latin typeface="Comic Sans MS" panose="030F0702030302020204" pitchFamily="66" charset="0"/>
              </a:rPr>
              <a:t>:</a:t>
            </a:r>
          </a:p>
          <a:p>
            <a:pPr marL="0" indent="0" algn="just">
              <a:lnSpc>
                <a:spcPct val="200000"/>
              </a:lnSpc>
            </a:pPr>
            <a:r>
              <a:rPr lang="fr-FR" dirty="0">
                <a:latin typeface="Comic Sans MS" panose="030F0702030302020204" pitchFamily="66" charset="0"/>
              </a:rPr>
              <a:t>La couche </a:t>
            </a:r>
            <a:r>
              <a:rPr lang="fr-FR" dirty="0" err="1">
                <a:latin typeface="Comic Sans MS" panose="030F0702030302020204" pitchFamily="66" charset="0"/>
              </a:rPr>
              <a:t>ReLU</a:t>
            </a:r>
            <a:r>
              <a:rPr lang="fr-FR" dirty="0">
                <a:latin typeface="Comic Sans MS" panose="030F0702030302020204" pitchFamily="66" charset="0"/>
              </a:rPr>
              <a:t> est une couche essentielle dans les réseaux de neurones profonds. Sa formule est la suivante:</a:t>
            </a:r>
          </a:p>
          <a:p>
            <a:pPr marL="0" indent="0" algn="just">
              <a:lnSpc>
                <a:spcPct val="200000"/>
              </a:lnSpc>
            </a:pPr>
            <a:r>
              <a:rPr lang="en-US" dirty="0">
                <a:latin typeface="Comic Sans MS" panose="030F0702030302020204" pitchFamily="66" charset="0"/>
              </a:rPr>
              <a:t>F(x) = Max(0,x)</a:t>
            </a:r>
          </a:p>
          <a:p>
            <a:pPr marL="0" indent="0" algn="just">
              <a:lnSpc>
                <a:spcPct val="200000"/>
              </a:lnSpc>
            </a:pPr>
            <a:r>
              <a:rPr lang="fr-FR" dirty="0">
                <a:latin typeface="Comic Sans MS" panose="030F0702030302020204" pitchFamily="66" charset="0"/>
              </a:rPr>
              <a:t>Où x représente la sortie de convolution.</a:t>
            </a:r>
          </a:p>
        </p:txBody>
      </p:sp>
      <p:sp>
        <p:nvSpPr>
          <p:cNvPr id="275" name="Google Shape;275;p33"/>
          <p:cNvSpPr txBox="1">
            <a:spLocks noGrp="1"/>
          </p:cNvSpPr>
          <p:nvPr>
            <p:ph type="subTitle" idx="7"/>
          </p:nvPr>
        </p:nvSpPr>
        <p:spPr>
          <a:xfrm>
            <a:off x="485339" y="1320068"/>
            <a:ext cx="8321204" cy="377100"/>
          </a:xfrm>
          <a:prstGeom prst="rect">
            <a:avLst/>
          </a:prstGeom>
        </p:spPr>
        <p:txBody>
          <a:bodyPr spcFirstLastPara="1" wrap="square" lIns="91425" tIns="91425" rIns="91425" bIns="91425" anchor="b" anchorCtr="0">
            <a:noAutofit/>
          </a:bodyPr>
          <a:lstStyle/>
          <a:p>
            <a:pPr marL="0" lvl="0" indent="0" algn="l"/>
            <a:r>
              <a:rPr lang="fr-FR" dirty="0">
                <a:latin typeface="Inter"/>
                <a:ea typeface="Inter"/>
                <a:cs typeface="Inter"/>
                <a:sym typeface="Inter"/>
              </a:rPr>
              <a:t> 2.3. Architectures de CNN</a:t>
            </a:r>
            <a:endParaRPr lang="en-CA" dirty="0">
              <a:latin typeface="Inter"/>
              <a:ea typeface="Inter"/>
              <a:cs typeface="Inter"/>
              <a:sym typeface="Inter"/>
            </a:endParaRPr>
          </a:p>
        </p:txBody>
      </p:sp>
      <p:cxnSp>
        <p:nvCxnSpPr>
          <p:cNvPr id="283" name="Google Shape;283;p33"/>
          <p:cNvCxnSpPr/>
          <p:nvPr/>
        </p:nvCxnSpPr>
        <p:spPr>
          <a:xfrm>
            <a:off x="1950" y="44702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4" name="Google Shape;284;p33"/>
          <p:cNvCxnSpPr/>
          <p:nvPr/>
        </p:nvCxnSpPr>
        <p:spPr>
          <a:xfrm>
            <a:off x="1950" y="114707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5" name="Google Shape;285;p33"/>
          <p:cNvCxnSpPr/>
          <p:nvPr/>
        </p:nvCxnSpPr>
        <p:spPr>
          <a:xfrm>
            <a:off x="1950" y="4608500"/>
            <a:ext cx="9139800" cy="0"/>
          </a:xfrm>
          <a:prstGeom prst="straightConnector1">
            <a:avLst/>
          </a:prstGeom>
          <a:noFill/>
          <a:ln w="9525" cap="flat" cmpd="sng">
            <a:solidFill>
              <a:schemeClr val="dk1"/>
            </a:solidFill>
            <a:prstDash val="solid"/>
            <a:round/>
            <a:headEnd type="none" w="med" len="med"/>
            <a:tailEnd type="none" w="med" len="med"/>
          </a:ln>
        </p:spPr>
      </p:cxnSp>
      <p:pic>
        <p:nvPicPr>
          <p:cNvPr id="4" name="Imag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6772" y="1981200"/>
            <a:ext cx="3404978" cy="2606694"/>
          </a:xfrm>
          <a:prstGeom prst="rect">
            <a:avLst/>
          </a:prstGeom>
        </p:spPr>
      </p:pic>
      <p:sp>
        <p:nvSpPr>
          <p:cNvPr id="2" name="TextBox 1">
            <a:extLst>
              <a:ext uri="{FF2B5EF4-FFF2-40B4-BE49-F238E27FC236}">
                <a16:creationId xmlns:a16="http://schemas.microsoft.com/office/drawing/2014/main" id="{12339968-625B-DEE5-6FF0-543D4765915D}"/>
              </a:ext>
            </a:extLst>
          </p:cNvPr>
          <p:cNvSpPr txBox="1"/>
          <p:nvPr/>
        </p:nvSpPr>
        <p:spPr>
          <a:xfrm>
            <a:off x="8483109" y="4683340"/>
            <a:ext cx="660891" cy="307777"/>
          </a:xfrm>
          <a:prstGeom prst="rect">
            <a:avLst/>
          </a:prstGeom>
          <a:noFill/>
        </p:spPr>
        <p:txBody>
          <a:bodyPr wrap="square" rtlCol="0">
            <a:spAutoFit/>
          </a:bodyPr>
          <a:lstStyle/>
          <a:p>
            <a:r>
              <a:rPr lang="fr-FR" dirty="0"/>
              <a:t>7</a:t>
            </a:r>
            <a:endParaRPr lang="fr-CH" dirty="0"/>
          </a:p>
        </p:txBody>
      </p:sp>
      <p:sp>
        <p:nvSpPr>
          <p:cNvPr id="10" name="ZoneTexte 9"/>
          <p:cNvSpPr txBox="1"/>
          <p:nvPr/>
        </p:nvSpPr>
        <p:spPr>
          <a:xfrm>
            <a:off x="3179702" y="4683340"/>
            <a:ext cx="2784296" cy="307777"/>
          </a:xfrm>
          <a:prstGeom prst="rect">
            <a:avLst/>
          </a:prstGeom>
          <a:noFill/>
        </p:spPr>
        <p:txBody>
          <a:bodyPr wrap="square" rtlCol="0">
            <a:spAutoFit/>
          </a:bodyPr>
          <a:lstStyle/>
          <a:p>
            <a:pPr algn="ctr"/>
            <a:r>
              <a:rPr lang="fr-FR" dirty="0">
                <a:latin typeface="Footlight MT Light" panose="0204060206030A020304" pitchFamily="18" charset="0"/>
              </a:rPr>
              <a:t>PFE: Détection des émotions</a:t>
            </a:r>
          </a:p>
        </p:txBody>
      </p:sp>
      <p:sp>
        <p:nvSpPr>
          <p:cNvPr id="11" name="ZoneTexte 10"/>
          <p:cNvSpPr txBox="1"/>
          <p:nvPr/>
        </p:nvSpPr>
        <p:spPr>
          <a:xfrm>
            <a:off x="269297" y="4683340"/>
            <a:ext cx="731290" cy="307777"/>
          </a:xfrm>
          <a:prstGeom prst="rect">
            <a:avLst/>
          </a:prstGeom>
          <a:noFill/>
        </p:spPr>
        <p:txBody>
          <a:bodyPr wrap="none" rtlCol="0">
            <a:spAutoFit/>
          </a:bodyPr>
          <a:lstStyle/>
          <a:p>
            <a:r>
              <a:rPr lang="fr-FR" dirty="0">
                <a:latin typeface="Footlight MT Light" panose="0204060206030A020304" pitchFamily="18" charset="0"/>
              </a:rPr>
              <a:t>SMI-S6</a:t>
            </a:r>
          </a:p>
        </p:txBody>
      </p:sp>
    </p:spTree>
    <p:extLst>
      <p:ext uri="{BB962C8B-B14F-4D97-AF65-F5344CB8AC3E}">
        <p14:creationId xmlns:p14="http://schemas.microsoft.com/office/powerpoint/2010/main" val="29419469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lgn="ctr"/>
            <a:r>
              <a:rPr lang="en-CA" dirty="0">
                <a:latin typeface="Inter"/>
                <a:ea typeface="Inter"/>
                <a:cs typeface="Inter"/>
                <a:sym typeface="Inter"/>
              </a:rPr>
              <a:t>2. M</a:t>
            </a:r>
            <a:r>
              <a:rPr lang="fr-FR" dirty="0">
                <a:latin typeface="Inter"/>
                <a:ea typeface="Inter"/>
                <a:cs typeface="Inter"/>
                <a:sym typeface="Inter"/>
              </a:rPr>
              <a:t>é</a:t>
            </a:r>
            <a:r>
              <a:rPr lang="en-CA" dirty="0" err="1">
                <a:latin typeface="Inter"/>
                <a:ea typeface="Inter"/>
                <a:cs typeface="Inter"/>
                <a:sym typeface="Inter"/>
              </a:rPr>
              <a:t>thodologie</a:t>
            </a:r>
            <a:r>
              <a:rPr lang="en-CA" dirty="0">
                <a:latin typeface="Inter"/>
                <a:ea typeface="Inter"/>
                <a:cs typeface="Inter"/>
                <a:sym typeface="Inter"/>
              </a:rPr>
              <a:t> de travail</a:t>
            </a:r>
          </a:p>
        </p:txBody>
      </p:sp>
      <p:sp>
        <p:nvSpPr>
          <p:cNvPr id="271" name="Google Shape;271;p33"/>
          <p:cNvSpPr txBox="1">
            <a:spLocks noGrp="1"/>
          </p:cNvSpPr>
          <p:nvPr>
            <p:ph type="subTitle" idx="1"/>
          </p:nvPr>
        </p:nvSpPr>
        <p:spPr>
          <a:xfrm>
            <a:off x="243840" y="1720619"/>
            <a:ext cx="5250180" cy="2758526"/>
          </a:xfrm>
          <a:prstGeom prst="rect">
            <a:avLst/>
          </a:prstGeom>
        </p:spPr>
        <p:txBody>
          <a:bodyPr spcFirstLastPara="1" wrap="square" lIns="91425" tIns="91425" rIns="91425" bIns="91425" anchor="t" anchorCtr="0">
            <a:noAutofit/>
          </a:bodyPr>
          <a:lstStyle/>
          <a:p>
            <a:pPr marL="0" indent="0" algn="just">
              <a:lnSpc>
                <a:spcPct val="200000"/>
              </a:lnSpc>
            </a:pPr>
            <a:r>
              <a:rPr lang="fr-FR" b="1" dirty="0">
                <a:latin typeface="Comic Sans MS" panose="030F0702030302020204" pitchFamily="66" charset="0"/>
              </a:rPr>
              <a:t>La couche </a:t>
            </a:r>
            <a:r>
              <a:rPr lang="fr-FR" b="1" dirty="0" err="1">
                <a:latin typeface="Comic Sans MS" panose="030F0702030302020204" pitchFamily="66" charset="0"/>
              </a:rPr>
              <a:t>Pooling</a:t>
            </a:r>
            <a:r>
              <a:rPr lang="fr-FR" b="1" dirty="0">
                <a:latin typeface="Comic Sans MS" panose="030F0702030302020204" pitchFamily="66" charset="0"/>
              </a:rPr>
              <a:t>:</a:t>
            </a:r>
          </a:p>
          <a:p>
            <a:pPr marL="0" indent="0" algn="just">
              <a:lnSpc>
                <a:spcPct val="250000"/>
              </a:lnSpc>
            </a:pPr>
            <a:r>
              <a:rPr lang="fr-FR" dirty="0">
                <a:latin typeface="Comic Sans MS" panose="030F0702030302020204" pitchFamily="66" charset="0"/>
              </a:rPr>
              <a:t>La couche de </a:t>
            </a:r>
            <a:r>
              <a:rPr lang="fr-FR" dirty="0" err="1">
                <a:latin typeface="Comic Sans MS" panose="030F0702030302020204" pitchFamily="66" charset="0"/>
              </a:rPr>
              <a:t>pooling</a:t>
            </a:r>
            <a:r>
              <a:rPr lang="fr-FR" dirty="0">
                <a:latin typeface="Comic Sans MS" panose="030F0702030302020204" pitchFamily="66" charset="0"/>
              </a:rPr>
              <a:t>, également appelée couche de sous-échantillonnage, est une composante clé dans les réseaux de neurones convolutifs (CNN). </a:t>
            </a:r>
          </a:p>
        </p:txBody>
      </p:sp>
      <p:sp>
        <p:nvSpPr>
          <p:cNvPr id="275" name="Google Shape;275;p33"/>
          <p:cNvSpPr txBox="1">
            <a:spLocks noGrp="1"/>
          </p:cNvSpPr>
          <p:nvPr>
            <p:ph type="subTitle" idx="7"/>
          </p:nvPr>
        </p:nvSpPr>
        <p:spPr>
          <a:xfrm>
            <a:off x="485339" y="1320068"/>
            <a:ext cx="8321204" cy="377100"/>
          </a:xfrm>
          <a:prstGeom prst="rect">
            <a:avLst/>
          </a:prstGeom>
        </p:spPr>
        <p:txBody>
          <a:bodyPr spcFirstLastPara="1" wrap="square" lIns="91425" tIns="91425" rIns="91425" bIns="91425" anchor="b" anchorCtr="0">
            <a:noAutofit/>
          </a:bodyPr>
          <a:lstStyle/>
          <a:p>
            <a:pPr marL="0" lvl="0" indent="0" algn="l"/>
            <a:r>
              <a:rPr lang="fr-FR" dirty="0">
                <a:latin typeface="Inter"/>
                <a:ea typeface="Inter"/>
                <a:cs typeface="Inter"/>
                <a:sym typeface="Inter"/>
              </a:rPr>
              <a:t> 2.3. Architectures de CNN</a:t>
            </a:r>
            <a:endParaRPr lang="en-CA" dirty="0">
              <a:latin typeface="Inter"/>
              <a:ea typeface="Inter"/>
              <a:cs typeface="Inter"/>
              <a:sym typeface="Inter"/>
            </a:endParaRPr>
          </a:p>
        </p:txBody>
      </p:sp>
      <p:cxnSp>
        <p:nvCxnSpPr>
          <p:cNvPr id="283" name="Google Shape;283;p33"/>
          <p:cNvCxnSpPr/>
          <p:nvPr/>
        </p:nvCxnSpPr>
        <p:spPr>
          <a:xfrm>
            <a:off x="1950" y="44702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4" name="Google Shape;284;p33"/>
          <p:cNvCxnSpPr/>
          <p:nvPr/>
        </p:nvCxnSpPr>
        <p:spPr>
          <a:xfrm>
            <a:off x="1950" y="114707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5" name="Google Shape;285;p33"/>
          <p:cNvCxnSpPr/>
          <p:nvPr/>
        </p:nvCxnSpPr>
        <p:spPr>
          <a:xfrm>
            <a:off x="1950" y="4608500"/>
            <a:ext cx="9139800" cy="0"/>
          </a:xfrm>
          <a:prstGeom prst="straightConnector1">
            <a:avLst/>
          </a:prstGeom>
          <a:noFill/>
          <a:ln w="9525" cap="flat" cmpd="sng">
            <a:solidFill>
              <a:schemeClr val="dk1"/>
            </a:solidFill>
            <a:prstDash val="solid"/>
            <a:round/>
            <a:headEnd type="none" w="med" len="med"/>
            <a:tailEnd type="none" w="med" len="med"/>
          </a:ln>
        </p:spPr>
      </p:cxnSp>
      <p:pic>
        <p:nvPicPr>
          <p:cNvPr id="2" name="Imag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15507" y="1276426"/>
            <a:ext cx="3459913" cy="3218422"/>
          </a:xfrm>
          <a:prstGeom prst="rect">
            <a:avLst/>
          </a:prstGeom>
        </p:spPr>
      </p:pic>
      <p:sp>
        <p:nvSpPr>
          <p:cNvPr id="3" name="TextBox 2">
            <a:extLst>
              <a:ext uri="{FF2B5EF4-FFF2-40B4-BE49-F238E27FC236}">
                <a16:creationId xmlns:a16="http://schemas.microsoft.com/office/drawing/2014/main" id="{66678B1D-4254-B168-A0CA-066D8C1B97B3}"/>
              </a:ext>
            </a:extLst>
          </p:cNvPr>
          <p:cNvSpPr txBox="1"/>
          <p:nvPr/>
        </p:nvSpPr>
        <p:spPr>
          <a:xfrm>
            <a:off x="8483109" y="4683340"/>
            <a:ext cx="660891" cy="307777"/>
          </a:xfrm>
          <a:prstGeom prst="rect">
            <a:avLst/>
          </a:prstGeom>
          <a:noFill/>
        </p:spPr>
        <p:txBody>
          <a:bodyPr wrap="square" rtlCol="0">
            <a:spAutoFit/>
          </a:bodyPr>
          <a:lstStyle/>
          <a:p>
            <a:r>
              <a:rPr lang="fr-FR" dirty="0"/>
              <a:t>8</a:t>
            </a:r>
            <a:endParaRPr lang="fr-CH" dirty="0"/>
          </a:p>
        </p:txBody>
      </p:sp>
      <p:sp>
        <p:nvSpPr>
          <p:cNvPr id="10" name="ZoneTexte 9"/>
          <p:cNvSpPr txBox="1"/>
          <p:nvPr/>
        </p:nvSpPr>
        <p:spPr>
          <a:xfrm>
            <a:off x="3179702" y="4683340"/>
            <a:ext cx="2784296" cy="307777"/>
          </a:xfrm>
          <a:prstGeom prst="rect">
            <a:avLst/>
          </a:prstGeom>
          <a:noFill/>
        </p:spPr>
        <p:txBody>
          <a:bodyPr wrap="square" rtlCol="0">
            <a:spAutoFit/>
          </a:bodyPr>
          <a:lstStyle/>
          <a:p>
            <a:pPr algn="ctr"/>
            <a:r>
              <a:rPr lang="fr-FR" dirty="0">
                <a:latin typeface="Footlight MT Light" panose="0204060206030A020304" pitchFamily="18" charset="0"/>
              </a:rPr>
              <a:t>PFE: Détection des émotions</a:t>
            </a:r>
          </a:p>
        </p:txBody>
      </p:sp>
      <p:sp>
        <p:nvSpPr>
          <p:cNvPr id="11" name="ZoneTexte 10"/>
          <p:cNvSpPr txBox="1"/>
          <p:nvPr/>
        </p:nvSpPr>
        <p:spPr>
          <a:xfrm>
            <a:off x="269297" y="4683340"/>
            <a:ext cx="731290" cy="307777"/>
          </a:xfrm>
          <a:prstGeom prst="rect">
            <a:avLst/>
          </a:prstGeom>
          <a:noFill/>
        </p:spPr>
        <p:txBody>
          <a:bodyPr wrap="none" rtlCol="0">
            <a:spAutoFit/>
          </a:bodyPr>
          <a:lstStyle/>
          <a:p>
            <a:r>
              <a:rPr lang="fr-FR" dirty="0">
                <a:latin typeface="Footlight MT Light" panose="0204060206030A020304" pitchFamily="18" charset="0"/>
              </a:rPr>
              <a:t>SMI-S6</a:t>
            </a:r>
          </a:p>
        </p:txBody>
      </p:sp>
    </p:spTree>
    <p:extLst>
      <p:ext uri="{BB962C8B-B14F-4D97-AF65-F5344CB8AC3E}">
        <p14:creationId xmlns:p14="http://schemas.microsoft.com/office/powerpoint/2010/main" val="39265093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lgn="ctr"/>
            <a:r>
              <a:rPr lang="en-CA" dirty="0">
                <a:latin typeface="Inter"/>
                <a:ea typeface="Inter"/>
                <a:cs typeface="Inter"/>
                <a:sym typeface="Inter"/>
              </a:rPr>
              <a:t>2. M</a:t>
            </a:r>
            <a:r>
              <a:rPr lang="fr-FR" dirty="0">
                <a:latin typeface="Inter"/>
                <a:ea typeface="Inter"/>
                <a:cs typeface="Inter"/>
                <a:sym typeface="Inter"/>
              </a:rPr>
              <a:t>é</a:t>
            </a:r>
            <a:r>
              <a:rPr lang="en-CA" dirty="0" err="1">
                <a:latin typeface="Inter"/>
                <a:ea typeface="Inter"/>
                <a:cs typeface="Inter"/>
                <a:sym typeface="Inter"/>
              </a:rPr>
              <a:t>thodologie</a:t>
            </a:r>
            <a:r>
              <a:rPr lang="en-CA" dirty="0">
                <a:latin typeface="Inter"/>
                <a:ea typeface="Inter"/>
                <a:cs typeface="Inter"/>
                <a:sym typeface="Inter"/>
              </a:rPr>
              <a:t> de travail</a:t>
            </a:r>
          </a:p>
        </p:txBody>
      </p:sp>
      <p:sp>
        <p:nvSpPr>
          <p:cNvPr id="271" name="Google Shape;271;p33"/>
          <p:cNvSpPr txBox="1">
            <a:spLocks noGrp="1"/>
          </p:cNvSpPr>
          <p:nvPr>
            <p:ph type="subTitle" idx="1"/>
          </p:nvPr>
        </p:nvSpPr>
        <p:spPr>
          <a:xfrm>
            <a:off x="287188" y="1697168"/>
            <a:ext cx="5251432" cy="2890726"/>
          </a:xfrm>
          <a:prstGeom prst="rect">
            <a:avLst/>
          </a:prstGeom>
        </p:spPr>
        <p:txBody>
          <a:bodyPr spcFirstLastPara="1" wrap="square" lIns="91425" tIns="91425" rIns="91425" bIns="91425" anchor="t" anchorCtr="0">
            <a:noAutofit/>
          </a:bodyPr>
          <a:lstStyle/>
          <a:p>
            <a:pPr marL="0" indent="0" algn="just">
              <a:lnSpc>
                <a:spcPct val="200000"/>
              </a:lnSpc>
            </a:pPr>
            <a:r>
              <a:rPr lang="fr-FR" b="1" dirty="0">
                <a:latin typeface="Comic Sans MS" panose="030F0702030302020204" pitchFamily="66" charset="0"/>
              </a:rPr>
              <a:t>La couche d’ aplatissement (</a:t>
            </a:r>
            <a:r>
              <a:rPr lang="fr-FR" b="1" dirty="0" err="1">
                <a:latin typeface="Comic Sans MS" panose="030F0702030302020204" pitchFamily="66" charset="0"/>
              </a:rPr>
              <a:t>Flatten</a:t>
            </a:r>
            <a:r>
              <a:rPr lang="fr-FR" b="1" dirty="0">
                <a:latin typeface="Comic Sans MS" panose="030F0702030302020204" pitchFamily="66" charset="0"/>
              </a:rPr>
              <a:t> Layer):</a:t>
            </a:r>
          </a:p>
          <a:p>
            <a:pPr marL="0" indent="0" algn="just">
              <a:lnSpc>
                <a:spcPct val="200000"/>
              </a:lnSpc>
            </a:pPr>
            <a:r>
              <a:rPr lang="fr-FR" dirty="0">
                <a:latin typeface="Comic Sans MS" panose="030F0702030302020204" pitchFamily="66" charset="0"/>
              </a:rPr>
              <a:t>La couche "</a:t>
            </a:r>
            <a:r>
              <a:rPr lang="fr-FR" dirty="0" err="1">
                <a:latin typeface="Comic Sans MS" panose="030F0702030302020204" pitchFamily="66" charset="0"/>
              </a:rPr>
              <a:t>flatten</a:t>
            </a:r>
            <a:r>
              <a:rPr lang="fr-FR" dirty="0">
                <a:latin typeface="Comic Sans MS" panose="030F0702030302020204" pitchFamily="66" charset="0"/>
              </a:rPr>
              <a:t>", ou couche d'aplatissement est utilisée pour convertir une grille multidimensionnelle de données en un vecteur unidimensionnel, souvent avant de passer à une couche entièrement connectée. </a:t>
            </a:r>
          </a:p>
        </p:txBody>
      </p:sp>
      <p:sp>
        <p:nvSpPr>
          <p:cNvPr id="275" name="Google Shape;275;p33"/>
          <p:cNvSpPr txBox="1">
            <a:spLocks noGrp="1"/>
          </p:cNvSpPr>
          <p:nvPr>
            <p:ph type="subTitle" idx="7"/>
          </p:nvPr>
        </p:nvSpPr>
        <p:spPr>
          <a:xfrm>
            <a:off x="485339" y="1320068"/>
            <a:ext cx="8321204" cy="377100"/>
          </a:xfrm>
          <a:prstGeom prst="rect">
            <a:avLst/>
          </a:prstGeom>
        </p:spPr>
        <p:txBody>
          <a:bodyPr spcFirstLastPara="1" wrap="square" lIns="91425" tIns="91425" rIns="91425" bIns="91425" anchor="b" anchorCtr="0">
            <a:noAutofit/>
          </a:bodyPr>
          <a:lstStyle/>
          <a:p>
            <a:pPr marL="0" lvl="0" indent="0" algn="l"/>
            <a:r>
              <a:rPr lang="fr-FR" dirty="0">
                <a:latin typeface="Inter"/>
                <a:ea typeface="Inter"/>
                <a:cs typeface="Inter"/>
                <a:sym typeface="Inter"/>
              </a:rPr>
              <a:t> 2.3. Architectures de CNN</a:t>
            </a:r>
            <a:endParaRPr lang="en-CA" dirty="0">
              <a:latin typeface="Inter"/>
              <a:ea typeface="Inter"/>
              <a:cs typeface="Inter"/>
              <a:sym typeface="Inter"/>
            </a:endParaRPr>
          </a:p>
        </p:txBody>
      </p:sp>
      <p:cxnSp>
        <p:nvCxnSpPr>
          <p:cNvPr id="283" name="Google Shape;283;p33"/>
          <p:cNvCxnSpPr/>
          <p:nvPr/>
        </p:nvCxnSpPr>
        <p:spPr>
          <a:xfrm>
            <a:off x="1950" y="44702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4" name="Google Shape;284;p33"/>
          <p:cNvCxnSpPr/>
          <p:nvPr/>
        </p:nvCxnSpPr>
        <p:spPr>
          <a:xfrm>
            <a:off x="1950" y="114707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5" name="Google Shape;285;p33"/>
          <p:cNvCxnSpPr/>
          <p:nvPr/>
        </p:nvCxnSpPr>
        <p:spPr>
          <a:xfrm>
            <a:off x="1950" y="4608500"/>
            <a:ext cx="9139800" cy="0"/>
          </a:xfrm>
          <a:prstGeom prst="straightConnector1">
            <a:avLst/>
          </a:prstGeom>
          <a:noFill/>
          <a:ln w="9525" cap="flat" cmpd="sng">
            <a:solidFill>
              <a:schemeClr val="dk1"/>
            </a:solidFill>
            <a:prstDash val="solid"/>
            <a:round/>
            <a:headEnd type="none" w="med" len="med"/>
            <a:tailEnd type="none" w="med" len="med"/>
          </a:ln>
        </p:spPr>
      </p:cxnSp>
      <p:pic>
        <p:nvPicPr>
          <p:cNvPr id="4" name="Imag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6771" y="1147075"/>
            <a:ext cx="3317893" cy="3533775"/>
          </a:xfrm>
          <a:prstGeom prst="rect">
            <a:avLst/>
          </a:prstGeom>
        </p:spPr>
      </p:pic>
      <p:sp>
        <p:nvSpPr>
          <p:cNvPr id="2" name="TextBox 1">
            <a:extLst>
              <a:ext uri="{FF2B5EF4-FFF2-40B4-BE49-F238E27FC236}">
                <a16:creationId xmlns:a16="http://schemas.microsoft.com/office/drawing/2014/main" id="{500644F9-B2BB-2ACD-324A-4A98BC2563F8}"/>
              </a:ext>
            </a:extLst>
          </p:cNvPr>
          <p:cNvSpPr txBox="1"/>
          <p:nvPr/>
        </p:nvSpPr>
        <p:spPr>
          <a:xfrm>
            <a:off x="8483109" y="4683340"/>
            <a:ext cx="660891" cy="307777"/>
          </a:xfrm>
          <a:prstGeom prst="rect">
            <a:avLst/>
          </a:prstGeom>
          <a:noFill/>
        </p:spPr>
        <p:txBody>
          <a:bodyPr wrap="square" rtlCol="0">
            <a:spAutoFit/>
          </a:bodyPr>
          <a:lstStyle/>
          <a:p>
            <a:r>
              <a:rPr lang="fr-FR" dirty="0"/>
              <a:t>9</a:t>
            </a:r>
            <a:endParaRPr lang="fr-CH" dirty="0"/>
          </a:p>
        </p:txBody>
      </p:sp>
      <p:sp>
        <p:nvSpPr>
          <p:cNvPr id="10" name="ZoneTexte 9"/>
          <p:cNvSpPr txBox="1"/>
          <p:nvPr/>
        </p:nvSpPr>
        <p:spPr>
          <a:xfrm>
            <a:off x="3179702" y="4683340"/>
            <a:ext cx="2784296" cy="307777"/>
          </a:xfrm>
          <a:prstGeom prst="rect">
            <a:avLst/>
          </a:prstGeom>
          <a:noFill/>
        </p:spPr>
        <p:txBody>
          <a:bodyPr wrap="square" rtlCol="0">
            <a:spAutoFit/>
          </a:bodyPr>
          <a:lstStyle/>
          <a:p>
            <a:pPr algn="ctr"/>
            <a:r>
              <a:rPr lang="fr-FR" dirty="0">
                <a:latin typeface="Footlight MT Light" panose="0204060206030A020304" pitchFamily="18" charset="0"/>
              </a:rPr>
              <a:t>PFE: Détection des émotions</a:t>
            </a:r>
          </a:p>
        </p:txBody>
      </p:sp>
      <p:sp>
        <p:nvSpPr>
          <p:cNvPr id="11" name="ZoneTexte 10"/>
          <p:cNvSpPr txBox="1"/>
          <p:nvPr/>
        </p:nvSpPr>
        <p:spPr>
          <a:xfrm>
            <a:off x="269297" y="4683340"/>
            <a:ext cx="731290" cy="307777"/>
          </a:xfrm>
          <a:prstGeom prst="rect">
            <a:avLst/>
          </a:prstGeom>
          <a:noFill/>
        </p:spPr>
        <p:txBody>
          <a:bodyPr wrap="none" rtlCol="0">
            <a:spAutoFit/>
          </a:bodyPr>
          <a:lstStyle/>
          <a:p>
            <a:r>
              <a:rPr lang="fr-FR" dirty="0">
                <a:latin typeface="Footlight MT Light" panose="0204060206030A020304" pitchFamily="18" charset="0"/>
              </a:rPr>
              <a:t>SMI-S6</a:t>
            </a:r>
          </a:p>
        </p:txBody>
      </p:sp>
    </p:spTree>
    <p:extLst>
      <p:ext uri="{BB962C8B-B14F-4D97-AF65-F5344CB8AC3E}">
        <p14:creationId xmlns:p14="http://schemas.microsoft.com/office/powerpoint/2010/main" val="701266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lgn="ctr"/>
            <a:r>
              <a:rPr lang="en-CA" dirty="0">
                <a:latin typeface="Inter"/>
                <a:ea typeface="Inter"/>
                <a:cs typeface="Inter"/>
                <a:sym typeface="Inter"/>
              </a:rPr>
              <a:t>2. M</a:t>
            </a:r>
            <a:r>
              <a:rPr lang="fr-FR" dirty="0">
                <a:latin typeface="Inter"/>
                <a:ea typeface="Inter"/>
                <a:cs typeface="Inter"/>
                <a:sym typeface="Inter"/>
              </a:rPr>
              <a:t>é</a:t>
            </a:r>
            <a:r>
              <a:rPr lang="en-CA" dirty="0" err="1">
                <a:latin typeface="Inter"/>
                <a:ea typeface="Inter"/>
                <a:cs typeface="Inter"/>
                <a:sym typeface="Inter"/>
              </a:rPr>
              <a:t>thodologie</a:t>
            </a:r>
            <a:r>
              <a:rPr lang="en-CA" dirty="0">
                <a:latin typeface="Inter"/>
                <a:ea typeface="Inter"/>
                <a:cs typeface="Inter"/>
                <a:sym typeface="Inter"/>
              </a:rPr>
              <a:t> de travail</a:t>
            </a:r>
          </a:p>
        </p:txBody>
      </p:sp>
      <p:sp>
        <p:nvSpPr>
          <p:cNvPr id="271" name="Google Shape;271;p33"/>
          <p:cNvSpPr txBox="1">
            <a:spLocks noGrp="1"/>
          </p:cNvSpPr>
          <p:nvPr>
            <p:ph type="subTitle" idx="1"/>
          </p:nvPr>
        </p:nvSpPr>
        <p:spPr>
          <a:xfrm>
            <a:off x="485339" y="1721048"/>
            <a:ext cx="5251432" cy="2890726"/>
          </a:xfrm>
          <a:prstGeom prst="rect">
            <a:avLst/>
          </a:prstGeom>
        </p:spPr>
        <p:txBody>
          <a:bodyPr spcFirstLastPara="1" wrap="square" lIns="91425" tIns="91425" rIns="91425" bIns="91425" anchor="t" anchorCtr="0">
            <a:noAutofit/>
          </a:bodyPr>
          <a:lstStyle/>
          <a:p>
            <a:pPr marL="0" indent="0" algn="just">
              <a:lnSpc>
                <a:spcPct val="200000"/>
              </a:lnSpc>
            </a:pPr>
            <a:r>
              <a:rPr lang="fr-FR" b="1" dirty="0">
                <a:latin typeface="Comic Sans MS" panose="030F0702030302020204" pitchFamily="66" charset="0"/>
              </a:rPr>
              <a:t>La couche entièrement connectée (</a:t>
            </a:r>
            <a:r>
              <a:rPr lang="fr-FR" b="1" dirty="0" err="1">
                <a:latin typeface="Comic Sans MS" panose="030F0702030302020204" pitchFamily="66" charset="0"/>
              </a:rPr>
              <a:t>Fully</a:t>
            </a:r>
            <a:r>
              <a:rPr lang="fr-FR" b="1" dirty="0">
                <a:latin typeface="Comic Sans MS" panose="030F0702030302020204" pitchFamily="66" charset="0"/>
              </a:rPr>
              <a:t> </a:t>
            </a:r>
            <a:r>
              <a:rPr lang="fr-FR" b="1" dirty="0" err="1">
                <a:latin typeface="Comic Sans MS" panose="030F0702030302020204" pitchFamily="66" charset="0"/>
              </a:rPr>
              <a:t>Conected</a:t>
            </a:r>
            <a:r>
              <a:rPr lang="fr-FR" b="1" dirty="0">
                <a:latin typeface="Comic Sans MS" panose="030F0702030302020204" pitchFamily="66" charset="0"/>
              </a:rPr>
              <a:t> Layer (FC)):</a:t>
            </a:r>
          </a:p>
          <a:p>
            <a:pPr marL="0" indent="0" algn="just">
              <a:lnSpc>
                <a:spcPct val="250000"/>
              </a:lnSpc>
            </a:pPr>
            <a:r>
              <a:rPr lang="fr-FR" dirty="0">
                <a:latin typeface="Comic Sans MS" panose="030F0702030302020204" pitchFamily="66" charset="0"/>
              </a:rPr>
              <a:t>La couche entièrement connectée est une composante essentielle,</a:t>
            </a:r>
          </a:p>
          <a:p>
            <a:pPr marL="0" indent="0" algn="just">
              <a:lnSpc>
                <a:spcPct val="250000"/>
              </a:lnSpc>
            </a:pPr>
            <a:r>
              <a:rPr lang="fr-FR" dirty="0">
                <a:latin typeface="Comic Sans MS" panose="030F0702030302020204" pitchFamily="66" charset="0"/>
              </a:rPr>
              <a:t>où chaque neurone dans cette couche est connecté à tous les neurones de la couche précédente. </a:t>
            </a:r>
          </a:p>
        </p:txBody>
      </p:sp>
      <p:sp>
        <p:nvSpPr>
          <p:cNvPr id="275" name="Google Shape;275;p33"/>
          <p:cNvSpPr txBox="1">
            <a:spLocks noGrp="1"/>
          </p:cNvSpPr>
          <p:nvPr>
            <p:ph type="subTitle" idx="7"/>
          </p:nvPr>
        </p:nvSpPr>
        <p:spPr>
          <a:xfrm>
            <a:off x="485339" y="1320068"/>
            <a:ext cx="8321204" cy="377100"/>
          </a:xfrm>
          <a:prstGeom prst="rect">
            <a:avLst/>
          </a:prstGeom>
        </p:spPr>
        <p:txBody>
          <a:bodyPr spcFirstLastPara="1" wrap="square" lIns="91425" tIns="91425" rIns="91425" bIns="91425" anchor="b" anchorCtr="0">
            <a:noAutofit/>
          </a:bodyPr>
          <a:lstStyle/>
          <a:p>
            <a:pPr marL="0" lvl="0" indent="0" algn="l"/>
            <a:r>
              <a:rPr lang="fr-FR" dirty="0">
                <a:latin typeface="Inter"/>
                <a:ea typeface="Inter"/>
                <a:cs typeface="Inter"/>
                <a:sym typeface="Inter"/>
              </a:rPr>
              <a:t> 2.3. Architectures de CNN</a:t>
            </a:r>
            <a:endParaRPr lang="en-CA" dirty="0">
              <a:latin typeface="Inter"/>
              <a:ea typeface="Inter"/>
              <a:cs typeface="Inter"/>
              <a:sym typeface="Inter"/>
            </a:endParaRPr>
          </a:p>
        </p:txBody>
      </p:sp>
      <p:cxnSp>
        <p:nvCxnSpPr>
          <p:cNvPr id="283" name="Google Shape;283;p33"/>
          <p:cNvCxnSpPr/>
          <p:nvPr/>
        </p:nvCxnSpPr>
        <p:spPr>
          <a:xfrm>
            <a:off x="1950" y="44702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4" name="Google Shape;284;p33"/>
          <p:cNvCxnSpPr/>
          <p:nvPr/>
        </p:nvCxnSpPr>
        <p:spPr>
          <a:xfrm>
            <a:off x="1950" y="114707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5" name="Google Shape;285;p33"/>
          <p:cNvCxnSpPr/>
          <p:nvPr/>
        </p:nvCxnSpPr>
        <p:spPr>
          <a:xfrm>
            <a:off x="1950" y="4608500"/>
            <a:ext cx="9139800" cy="0"/>
          </a:xfrm>
          <a:prstGeom prst="straightConnector1">
            <a:avLst/>
          </a:prstGeom>
          <a:noFill/>
          <a:ln w="9525" cap="flat" cmpd="sng">
            <a:solidFill>
              <a:schemeClr val="dk1"/>
            </a:solidFill>
            <a:prstDash val="solid"/>
            <a:round/>
            <a:headEnd type="none" w="med" len="med"/>
            <a:tailEnd type="none" w="med" len="med"/>
          </a:ln>
        </p:spPr>
      </p:cxnSp>
      <p:pic>
        <p:nvPicPr>
          <p:cNvPr id="2" name="Imag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61335" y="1287703"/>
            <a:ext cx="3155850" cy="3183637"/>
          </a:xfrm>
          <a:prstGeom prst="rect">
            <a:avLst/>
          </a:prstGeom>
        </p:spPr>
      </p:pic>
      <p:sp>
        <p:nvSpPr>
          <p:cNvPr id="3" name="TextBox 2">
            <a:extLst>
              <a:ext uri="{FF2B5EF4-FFF2-40B4-BE49-F238E27FC236}">
                <a16:creationId xmlns:a16="http://schemas.microsoft.com/office/drawing/2014/main" id="{18B83B16-D470-D8FC-F3D5-2A890E4EA817}"/>
              </a:ext>
            </a:extLst>
          </p:cNvPr>
          <p:cNvSpPr txBox="1"/>
          <p:nvPr/>
        </p:nvSpPr>
        <p:spPr>
          <a:xfrm>
            <a:off x="8483109" y="4683340"/>
            <a:ext cx="660891" cy="307777"/>
          </a:xfrm>
          <a:prstGeom prst="rect">
            <a:avLst/>
          </a:prstGeom>
          <a:noFill/>
        </p:spPr>
        <p:txBody>
          <a:bodyPr wrap="square" rtlCol="0">
            <a:spAutoFit/>
          </a:bodyPr>
          <a:lstStyle/>
          <a:p>
            <a:r>
              <a:rPr lang="fr-FR" dirty="0"/>
              <a:t>10</a:t>
            </a:r>
            <a:endParaRPr lang="fr-CH" dirty="0"/>
          </a:p>
        </p:txBody>
      </p:sp>
      <p:sp>
        <p:nvSpPr>
          <p:cNvPr id="10" name="ZoneTexte 9"/>
          <p:cNvSpPr txBox="1"/>
          <p:nvPr/>
        </p:nvSpPr>
        <p:spPr>
          <a:xfrm>
            <a:off x="3179702" y="4683340"/>
            <a:ext cx="2784296" cy="307777"/>
          </a:xfrm>
          <a:prstGeom prst="rect">
            <a:avLst/>
          </a:prstGeom>
          <a:noFill/>
        </p:spPr>
        <p:txBody>
          <a:bodyPr wrap="square" rtlCol="0">
            <a:spAutoFit/>
          </a:bodyPr>
          <a:lstStyle/>
          <a:p>
            <a:pPr algn="ctr"/>
            <a:r>
              <a:rPr lang="fr-FR" dirty="0">
                <a:latin typeface="Footlight MT Light" panose="0204060206030A020304" pitchFamily="18" charset="0"/>
              </a:rPr>
              <a:t>PFE: Détection des émotions</a:t>
            </a:r>
          </a:p>
        </p:txBody>
      </p:sp>
      <p:sp>
        <p:nvSpPr>
          <p:cNvPr id="11" name="ZoneTexte 10"/>
          <p:cNvSpPr txBox="1"/>
          <p:nvPr/>
        </p:nvSpPr>
        <p:spPr>
          <a:xfrm>
            <a:off x="269297" y="4683340"/>
            <a:ext cx="731290" cy="307777"/>
          </a:xfrm>
          <a:prstGeom prst="rect">
            <a:avLst/>
          </a:prstGeom>
          <a:noFill/>
        </p:spPr>
        <p:txBody>
          <a:bodyPr wrap="none" rtlCol="0">
            <a:spAutoFit/>
          </a:bodyPr>
          <a:lstStyle/>
          <a:p>
            <a:r>
              <a:rPr lang="fr-FR" dirty="0">
                <a:latin typeface="Footlight MT Light" panose="0204060206030A020304" pitchFamily="18" charset="0"/>
              </a:rPr>
              <a:t>SMI-S6</a:t>
            </a:r>
          </a:p>
        </p:txBody>
      </p:sp>
    </p:spTree>
    <p:extLst>
      <p:ext uri="{BB962C8B-B14F-4D97-AF65-F5344CB8AC3E}">
        <p14:creationId xmlns:p14="http://schemas.microsoft.com/office/powerpoint/2010/main" val="11508362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lgn="ctr"/>
            <a:r>
              <a:rPr lang="en-CA" dirty="0">
                <a:latin typeface="Inter"/>
                <a:ea typeface="Inter"/>
                <a:cs typeface="Inter"/>
                <a:sym typeface="Inter"/>
              </a:rPr>
              <a:t>2. M</a:t>
            </a:r>
            <a:r>
              <a:rPr lang="fr-FR" dirty="0">
                <a:latin typeface="Inter"/>
                <a:ea typeface="Inter"/>
                <a:cs typeface="Inter"/>
                <a:sym typeface="Inter"/>
              </a:rPr>
              <a:t>é</a:t>
            </a:r>
            <a:r>
              <a:rPr lang="en-CA" dirty="0" err="1">
                <a:latin typeface="Inter"/>
                <a:ea typeface="Inter"/>
                <a:cs typeface="Inter"/>
                <a:sym typeface="Inter"/>
              </a:rPr>
              <a:t>thodologie</a:t>
            </a:r>
            <a:r>
              <a:rPr lang="en-CA" dirty="0">
                <a:latin typeface="Inter"/>
                <a:ea typeface="Inter"/>
                <a:cs typeface="Inter"/>
                <a:sym typeface="Inter"/>
              </a:rPr>
              <a:t> de travail</a:t>
            </a:r>
          </a:p>
        </p:txBody>
      </p:sp>
      <p:sp>
        <p:nvSpPr>
          <p:cNvPr id="271" name="Google Shape;271;p33"/>
          <p:cNvSpPr txBox="1">
            <a:spLocks noGrp="1"/>
          </p:cNvSpPr>
          <p:nvPr>
            <p:ph type="subTitle" idx="1"/>
          </p:nvPr>
        </p:nvSpPr>
        <p:spPr>
          <a:xfrm>
            <a:off x="485340" y="1717774"/>
            <a:ext cx="5120803" cy="2890726"/>
          </a:xfrm>
          <a:prstGeom prst="rect">
            <a:avLst/>
          </a:prstGeom>
        </p:spPr>
        <p:txBody>
          <a:bodyPr spcFirstLastPara="1" wrap="square" lIns="91425" tIns="91425" rIns="91425" bIns="91425" anchor="t" anchorCtr="0">
            <a:noAutofit/>
          </a:bodyPr>
          <a:lstStyle/>
          <a:p>
            <a:pPr marL="0" indent="0" algn="just">
              <a:lnSpc>
                <a:spcPct val="200000"/>
              </a:lnSpc>
            </a:pPr>
            <a:r>
              <a:rPr lang="fr-FR" b="1" dirty="0">
                <a:latin typeface="Comic Sans MS" panose="030F0702030302020204" pitchFamily="66" charset="0"/>
              </a:rPr>
              <a:t>La couche de sorite (</a:t>
            </a:r>
            <a:r>
              <a:rPr lang="fr-FR" b="1" dirty="0" err="1">
                <a:latin typeface="Comic Sans MS" panose="030F0702030302020204" pitchFamily="66" charset="0"/>
              </a:rPr>
              <a:t>Softmax</a:t>
            </a:r>
            <a:r>
              <a:rPr lang="fr-FR" b="1" dirty="0">
                <a:latin typeface="Comic Sans MS" panose="030F0702030302020204" pitchFamily="66" charset="0"/>
              </a:rPr>
              <a:t> ):</a:t>
            </a:r>
          </a:p>
          <a:p>
            <a:pPr marL="0" indent="0" algn="just">
              <a:lnSpc>
                <a:spcPct val="250000"/>
              </a:lnSpc>
            </a:pPr>
            <a:r>
              <a:rPr lang="fr-FR" dirty="0">
                <a:latin typeface="Comic Sans MS" panose="030F0702030302020204" pitchFamily="66" charset="0"/>
              </a:rPr>
              <a:t>La fonction </a:t>
            </a:r>
            <a:r>
              <a:rPr lang="fr-FR" dirty="0" err="1">
                <a:latin typeface="Comic Sans MS" panose="030F0702030302020204" pitchFamily="66" charset="0"/>
              </a:rPr>
              <a:t>softmax</a:t>
            </a:r>
            <a:r>
              <a:rPr lang="fr-FR" dirty="0">
                <a:latin typeface="Comic Sans MS" panose="030F0702030302020204" pitchFamily="66" charset="0"/>
              </a:rPr>
              <a:t> est une fonction d'activation couramment utilisée dans les réseaux de neurones pour les tâches de classification </a:t>
            </a:r>
            <a:r>
              <a:rPr lang="fr-FR" dirty="0" err="1">
                <a:latin typeface="Comic Sans MS" panose="030F0702030302020204" pitchFamily="66" charset="0"/>
              </a:rPr>
              <a:t>multiclasse</a:t>
            </a:r>
            <a:r>
              <a:rPr lang="fr-FR" dirty="0">
                <a:latin typeface="Comic Sans MS" panose="030F0702030302020204" pitchFamily="66" charset="0"/>
              </a:rPr>
              <a:t>.</a:t>
            </a:r>
          </a:p>
        </p:txBody>
      </p:sp>
      <p:sp>
        <p:nvSpPr>
          <p:cNvPr id="275" name="Google Shape;275;p33"/>
          <p:cNvSpPr txBox="1">
            <a:spLocks noGrp="1"/>
          </p:cNvSpPr>
          <p:nvPr>
            <p:ph type="subTitle" idx="7"/>
          </p:nvPr>
        </p:nvSpPr>
        <p:spPr>
          <a:xfrm>
            <a:off x="485339" y="1320068"/>
            <a:ext cx="8321204" cy="377100"/>
          </a:xfrm>
          <a:prstGeom prst="rect">
            <a:avLst/>
          </a:prstGeom>
        </p:spPr>
        <p:txBody>
          <a:bodyPr spcFirstLastPara="1" wrap="square" lIns="91425" tIns="91425" rIns="91425" bIns="91425" anchor="b" anchorCtr="0">
            <a:noAutofit/>
          </a:bodyPr>
          <a:lstStyle/>
          <a:p>
            <a:pPr marL="0" lvl="0" indent="0" algn="l"/>
            <a:r>
              <a:rPr lang="fr-FR" dirty="0">
                <a:latin typeface="Inter"/>
                <a:ea typeface="Inter"/>
                <a:cs typeface="Inter"/>
                <a:sym typeface="Inter"/>
              </a:rPr>
              <a:t> 2.3. Architectures de CNN</a:t>
            </a:r>
            <a:endParaRPr lang="en-CA" dirty="0">
              <a:latin typeface="Inter"/>
              <a:ea typeface="Inter"/>
              <a:cs typeface="Inter"/>
              <a:sym typeface="Inter"/>
            </a:endParaRPr>
          </a:p>
        </p:txBody>
      </p:sp>
      <p:cxnSp>
        <p:nvCxnSpPr>
          <p:cNvPr id="283" name="Google Shape;283;p33"/>
          <p:cNvCxnSpPr/>
          <p:nvPr/>
        </p:nvCxnSpPr>
        <p:spPr>
          <a:xfrm>
            <a:off x="1950" y="44702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4" name="Google Shape;284;p33"/>
          <p:cNvCxnSpPr/>
          <p:nvPr/>
        </p:nvCxnSpPr>
        <p:spPr>
          <a:xfrm>
            <a:off x="1950" y="114707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5" name="Google Shape;285;p33"/>
          <p:cNvCxnSpPr/>
          <p:nvPr/>
        </p:nvCxnSpPr>
        <p:spPr>
          <a:xfrm>
            <a:off x="1950" y="4608500"/>
            <a:ext cx="9139800" cy="0"/>
          </a:xfrm>
          <a:prstGeom prst="straightConnector1">
            <a:avLst/>
          </a:prstGeom>
          <a:noFill/>
          <a:ln w="9525" cap="flat" cmpd="sng">
            <a:solidFill>
              <a:schemeClr val="dk1"/>
            </a:solidFill>
            <a:prstDash val="solid"/>
            <a:round/>
            <a:headEnd type="none" w="med" len="med"/>
            <a:tailEnd type="none" w="med" len="med"/>
          </a:ln>
        </p:spPr>
      </p:cxnSp>
      <p:pic>
        <p:nvPicPr>
          <p:cNvPr id="3" name="Imag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6772" y="1765586"/>
            <a:ext cx="3404978" cy="2774496"/>
          </a:xfrm>
          <a:prstGeom prst="rect">
            <a:avLst/>
          </a:prstGeom>
        </p:spPr>
      </p:pic>
      <p:sp>
        <p:nvSpPr>
          <p:cNvPr id="4" name="ZoneTexte 3"/>
          <p:cNvSpPr txBox="1"/>
          <p:nvPr/>
        </p:nvSpPr>
        <p:spPr>
          <a:xfrm>
            <a:off x="6104717" y="1946362"/>
            <a:ext cx="274434" cy="307777"/>
          </a:xfrm>
          <a:prstGeom prst="rect">
            <a:avLst/>
          </a:prstGeom>
          <a:noFill/>
        </p:spPr>
        <p:txBody>
          <a:bodyPr wrap="none" rtlCol="0">
            <a:spAutoFit/>
          </a:bodyPr>
          <a:lstStyle/>
          <a:p>
            <a:r>
              <a:rPr lang="en-US" dirty="0">
                <a:latin typeface="+mn-lt"/>
              </a:rPr>
              <a:t>z</a:t>
            </a:r>
            <a:endParaRPr lang="fr-FR" dirty="0">
              <a:latin typeface="+mn-lt"/>
            </a:endParaRPr>
          </a:p>
        </p:txBody>
      </p:sp>
      <p:sp>
        <p:nvSpPr>
          <p:cNvPr id="2" name="TextBox 1">
            <a:extLst>
              <a:ext uri="{FF2B5EF4-FFF2-40B4-BE49-F238E27FC236}">
                <a16:creationId xmlns:a16="http://schemas.microsoft.com/office/drawing/2014/main" id="{BEBE10EB-C774-D8D5-F627-B38B7DA684F6}"/>
              </a:ext>
            </a:extLst>
          </p:cNvPr>
          <p:cNvSpPr txBox="1"/>
          <p:nvPr/>
        </p:nvSpPr>
        <p:spPr>
          <a:xfrm>
            <a:off x="8483109" y="4683340"/>
            <a:ext cx="660891" cy="307777"/>
          </a:xfrm>
          <a:prstGeom prst="rect">
            <a:avLst/>
          </a:prstGeom>
          <a:noFill/>
        </p:spPr>
        <p:txBody>
          <a:bodyPr wrap="square" rtlCol="0">
            <a:spAutoFit/>
          </a:bodyPr>
          <a:lstStyle/>
          <a:p>
            <a:r>
              <a:rPr lang="fr-FR" dirty="0"/>
              <a:t>11</a:t>
            </a:r>
            <a:endParaRPr lang="fr-CH" dirty="0"/>
          </a:p>
        </p:txBody>
      </p:sp>
      <p:sp>
        <p:nvSpPr>
          <p:cNvPr id="11" name="ZoneTexte 10"/>
          <p:cNvSpPr txBox="1"/>
          <p:nvPr/>
        </p:nvSpPr>
        <p:spPr>
          <a:xfrm>
            <a:off x="3179702" y="4683340"/>
            <a:ext cx="2784296" cy="307777"/>
          </a:xfrm>
          <a:prstGeom prst="rect">
            <a:avLst/>
          </a:prstGeom>
          <a:noFill/>
        </p:spPr>
        <p:txBody>
          <a:bodyPr wrap="square" rtlCol="0">
            <a:spAutoFit/>
          </a:bodyPr>
          <a:lstStyle/>
          <a:p>
            <a:pPr algn="ctr"/>
            <a:r>
              <a:rPr lang="fr-FR" dirty="0">
                <a:latin typeface="Footlight MT Light" panose="0204060206030A020304" pitchFamily="18" charset="0"/>
              </a:rPr>
              <a:t>PFE: Détection des émotions</a:t>
            </a:r>
          </a:p>
        </p:txBody>
      </p:sp>
      <p:sp>
        <p:nvSpPr>
          <p:cNvPr id="12" name="ZoneTexte 11"/>
          <p:cNvSpPr txBox="1"/>
          <p:nvPr/>
        </p:nvSpPr>
        <p:spPr>
          <a:xfrm>
            <a:off x="269297" y="4683340"/>
            <a:ext cx="731290" cy="307777"/>
          </a:xfrm>
          <a:prstGeom prst="rect">
            <a:avLst/>
          </a:prstGeom>
          <a:noFill/>
        </p:spPr>
        <p:txBody>
          <a:bodyPr wrap="none" rtlCol="0">
            <a:spAutoFit/>
          </a:bodyPr>
          <a:lstStyle/>
          <a:p>
            <a:r>
              <a:rPr lang="fr-FR" dirty="0">
                <a:latin typeface="Footlight MT Light" panose="0204060206030A020304" pitchFamily="18" charset="0"/>
              </a:rPr>
              <a:t>SMI-S6</a:t>
            </a:r>
          </a:p>
        </p:txBody>
      </p:sp>
    </p:spTree>
    <p:extLst>
      <p:ext uri="{BB962C8B-B14F-4D97-AF65-F5344CB8AC3E}">
        <p14:creationId xmlns:p14="http://schemas.microsoft.com/office/powerpoint/2010/main" val="23653733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lgn="ctr"/>
            <a:r>
              <a:rPr lang="en-CA" dirty="0">
                <a:latin typeface="Inter"/>
                <a:ea typeface="Inter"/>
                <a:cs typeface="Inter"/>
                <a:sym typeface="Inter"/>
              </a:rPr>
              <a:t>2. M</a:t>
            </a:r>
            <a:r>
              <a:rPr lang="fr-FR" dirty="0">
                <a:latin typeface="Inter"/>
                <a:ea typeface="Inter"/>
                <a:cs typeface="Inter"/>
                <a:sym typeface="Inter"/>
              </a:rPr>
              <a:t>é</a:t>
            </a:r>
            <a:r>
              <a:rPr lang="en-CA" dirty="0" err="1">
                <a:latin typeface="Inter"/>
                <a:ea typeface="Inter"/>
                <a:cs typeface="Inter"/>
                <a:sym typeface="Inter"/>
              </a:rPr>
              <a:t>thodologie</a:t>
            </a:r>
            <a:r>
              <a:rPr lang="en-CA" dirty="0">
                <a:latin typeface="Inter"/>
                <a:ea typeface="Inter"/>
                <a:cs typeface="Inter"/>
                <a:sym typeface="Inter"/>
              </a:rPr>
              <a:t> de travail</a:t>
            </a:r>
          </a:p>
        </p:txBody>
      </p:sp>
      <p:sp>
        <p:nvSpPr>
          <p:cNvPr id="271" name="Google Shape;271;p33"/>
          <p:cNvSpPr txBox="1">
            <a:spLocks noGrp="1"/>
          </p:cNvSpPr>
          <p:nvPr>
            <p:ph type="subTitle" idx="1"/>
          </p:nvPr>
        </p:nvSpPr>
        <p:spPr>
          <a:xfrm>
            <a:off x="485339" y="1717774"/>
            <a:ext cx="8506261" cy="2890726"/>
          </a:xfrm>
          <a:prstGeom prst="rect">
            <a:avLst/>
          </a:prstGeom>
        </p:spPr>
        <p:txBody>
          <a:bodyPr spcFirstLastPara="1" wrap="square" lIns="91425" tIns="91425" rIns="91425" bIns="91425" anchor="t" anchorCtr="0">
            <a:noAutofit/>
          </a:bodyPr>
          <a:lstStyle/>
          <a:p>
            <a:pPr marL="0" indent="0" algn="just">
              <a:lnSpc>
                <a:spcPct val="200000"/>
              </a:lnSpc>
            </a:pPr>
            <a:r>
              <a:rPr lang="en-US" b="1" dirty="0">
                <a:latin typeface="Comic Sans MS" panose="030F0702030302020204" pitchFamily="66" charset="0"/>
              </a:rPr>
              <a:t>Architectures </a:t>
            </a:r>
            <a:r>
              <a:rPr lang="en-US" b="1" dirty="0" err="1">
                <a:latin typeface="Comic Sans MS" panose="030F0702030302020204" pitchFamily="66" charset="0"/>
              </a:rPr>
              <a:t>prêtes</a:t>
            </a:r>
            <a:r>
              <a:rPr lang="en-US" b="1" dirty="0">
                <a:latin typeface="Comic Sans MS" panose="030F0702030302020204" pitchFamily="66" charset="0"/>
              </a:rPr>
              <a:t> à </a:t>
            </a:r>
            <a:r>
              <a:rPr lang="en-US" b="1" dirty="0" err="1">
                <a:latin typeface="Comic Sans MS" panose="030F0702030302020204" pitchFamily="66" charset="0"/>
              </a:rPr>
              <a:t>l'emploi</a:t>
            </a:r>
            <a:r>
              <a:rPr lang="en-US" b="1" dirty="0">
                <a:latin typeface="Comic Sans MS" panose="030F0702030302020204" pitchFamily="66" charset="0"/>
              </a:rPr>
              <a:t>:</a:t>
            </a:r>
          </a:p>
          <a:p>
            <a:pPr marL="285750" indent="-285750" algn="just">
              <a:lnSpc>
                <a:spcPct val="200000"/>
              </a:lnSpc>
              <a:buFont typeface="Arial" panose="020B0604020202020204" pitchFamily="34" charset="0"/>
              <a:buChar char="•"/>
            </a:pPr>
            <a:r>
              <a:rPr lang="en-US" dirty="0" err="1">
                <a:latin typeface="Comic Sans MS" panose="030F0702030302020204" pitchFamily="66" charset="0"/>
              </a:rPr>
              <a:t>AlexNet</a:t>
            </a:r>
            <a:endParaRPr lang="en-US" dirty="0">
              <a:latin typeface="Comic Sans MS" panose="030F0702030302020204" pitchFamily="66" charset="0"/>
            </a:endParaRPr>
          </a:p>
          <a:p>
            <a:pPr marL="285750" indent="-285750" algn="just">
              <a:lnSpc>
                <a:spcPct val="200000"/>
              </a:lnSpc>
              <a:buFont typeface="Arial" panose="020B0604020202020204" pitchFamily="34" charset="0"/>
              <a:buChar char="•"/>
            </a:pPr>
            <a:r>
              <a:rPr lang="en-US" dirty="0" err="1">
                <a:latin typeface="Comic Sans MS" panose="030F0702030302020204" pitchFamily="66" charset="0"/>
              </a:rPr>
              <a:t>ResNet</a:t>
            </a:r>
            <a:r>
              <a:rPr lang="en-US" dirty="0">
                <a:latin typeface="Comic Sans MS" panose="030F0702030302020204" pitchFamily="66" charset="0"/>
              </a:rPr>
              <a:t> (Residual Network)</a:t>
            </a:r>
          </a:p>
          <a:p>
            <a:pPr marL="285750" indent="-285750" algn="just">
              <a:lnSpc>
                <a:spcPct val="200000"/>
              </a:lnSpc>
              <a:buFont typeface="Arial" panose="020B0604020202020204" pitchFamily="34" charset="0"/>
              <a:buChar char="•"/>
            </a:pPr>
            <a:r>
              <a:rPr lang="en-US" dirty="0">
                <a:latin typeface="Comic Sans MS" panose="030F0702030302020204" pitchFamily="66" charset="0"/>
              </a:rPr>
              <a:t>VGG16 (Visual Geometry Group)</a:t>
            </a:r>
          </a:p>
          <a:p>
            <a:pPr marL="285750" indent="-285750" algn="just">
              <a:lnSpc>
                <a:spcPct val="200000"/>
              </a:lnSpc>
              <a:buFont typeface="Arial" panose="020B0604020202020204" pitchFamily="34" charset="0"/>
              <a:buChar char="•"/>
            </a:pPr>
            <a:r>
              <a:rPr lang="en-US" dirty="0">
                <a:latin typeface="Comic Sans MS" panose="030F0702030302020204" pitchFamily="66" charset="0"/>
              </a:rPr>
              <a:t>Inception (</a:t>
            </a:r>
            <a:r>
              <a:rPr lang="en-US" dirty="0" err="1">
                <a:latin typeface="Comic Sans MS" panose="030F0702030302020204" pitchFamily="66" charset="0"/>
              </a:rPr>
              <a:t>GoogLeNet</a:t>
            </a:r>
            <a:r>
              <a:rPr lang="en-US" dirty="0">
                <a:latin typeface="Comic Sans MS" panose="030F0702030302020204" pitchFamily="66" charset="0"/>
              </a:rPr>
              <a:t>)</a:t>
            </a:r>
          </a:p>
          <a:p>
            <a:pPr marL="285750" indent="-285750" algn="just">
              <a:lnSpc>
                <a:spcPct val="200000"/>
              </a:lnSpc>
              <a:buFont typeface="Arial" panose="020B0604020202020204" pitchFamily="34" charset="0"/>
              <a:buChar char="•"/>
            </a:pPr>
            <a:r>
              <a:rPr lang="en-US" dirty="0" err="1">
                <a:latin typeface="Comic Sans MS" panose="030F0702030302020204" pitchFamily="66" charset="0"/>
              </a:rPr>
              <a:t>Darknet</a:t>
            </a:r>
            <a:r>
              <a:rPr lang="en-US" dirty="0">
                <a:latin typeface="Comic Sans MS" panose="030F0702030302020204" pitchFamily="66" charset="0"/>
              </a:rPr>
              <a:t> </a:t>
            </a:r>
          </a:p>
          <a:p>
            <a:pPr marL="285750" indent="-285750" algn="just">
              <a:lnSpc>
                <a:spcPct val="200000"/>
              </a:lnSpc>
              <a:buFont typeface="Arial" panose="020B0604020202020204" pitchFamily="34" charset="0"/>
              <a:buChar char="•"/>
            </a:pPr>
            <a:endParaRPr lang="fr-FR" sz="1400" b="1" dirty="0">
              <a:latin typeface="Comic Sans MS" panose="030F0702030302020204" pitchFamily="66" charset="0"/>
            </a:endParaRPr>
          </a:p>
        </p:txBody>
      </p:sp>
      <p:sp>
        <p:nvSpPr>
          <p:cNvPr id="275" name="Google Shape;275;p33"/>
          <p:cNvSpPr txBox="1">
            <a:spLocks noGrp="1"/>
          </p:cNvSpPr>
          <p:nvPr>
            <p:ph type="subTitle" idx="7"/>
          </p:nvPr>
        </p:nvSpPr>
        <p:spPr>
          <a:xfrm>
            <a:off x="485339" y="1320068"/>
            <a:ext cx="8321204" cy="377100"/>
          </a:xfrm>
          <a:prstGeom prst="rect">
            <a:avLst/>
          </a:prstGeom>
        </p:spPr>
        <p:txBody>
          <a:bodyPr spcFirstLastPara="1" wrap="square" lIns="91425" tIns="91425" rIns="91425" bIns="91425" anchor="b" anchorCtr="0">
            <a:noAutofit/>
          </a:bodyPr>
          <a:lstStyle/>
          <a:p>
            <a:pPr marL="0" lvl="0" indent="0" algn="l"/>
            <a:r>
              <a:rPr lang="fr-FR" dirty="0">
                <a:latin typeface="Inter"/>
                <a:ea typeface="Inter"/>
                <a:cs typeface="Inter"/>
                <a:sym typeface="Inter"/>
              </a:rPr>
              <a:t> 2.3. Architectures de CNN</a:t>
            </a:r>
            <a:endParaRPr lang="en-CA" dirty="0">
              <a:latin typeface="Inter"/>
              <a:ea typeface="Inter"/>
              <a:cs typeface="Inter"/>
              <a:sym typeface="Inter"/>
            </a:endParaRPr>
          </a:p>
        </p:txBody>
      </p:sp>
      <p:cxnSp>
        <p:nvCxnSpPr>
          <p:cNvPr id="283" name="Google Shape;283;p33"/>
          <p:cNvCxnSpPr/>
          <p:nvPr/>
        </p:nvCxnSpPr>
        <p:spPr>
          <a:xfrm>
            <a:off x="1950" y="44702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4" name="Google Shape;284;p33"/>
          <p:cNvCxnSpPr/>
          <p:nvPr/>
        </p:nvCxnSpPr>
        <p:spPr>
          <a:xfrm>
            <a:off x="1950" y="114707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5" name="Google Shape;285;p33"/>
          <p:cNvCxnSpPr/>
          <p:nvPr/>
        </p:nvCxnSpPr>
        <p:spPr>
          <a:xfrm>
            <a:off x="1950" y="4608500"/>
            <a:ext cx="9139800" cy="0"/>
          </a:xfrm>
          <a:prstGeom prst="straightConnector1">
            <a:avLst/>
          </a:prstGeom>
          <a:noFill/>
          <a:ln w="9525" cap="flat" cmpd="sng">
            <a:solidFill>
              <a:schemeClr val="dk1"/>
            </a:solidFill>
            <a:prstDash val="solid"/>
            <a:round/>
            <a:headEnd type="none" w="med" len="med"/>
            <a:tailEnd type="none" w="med" len="med"/>
          </a:ln>
        </p:spPr>
      </p:cxnSp>
      <p:sp>
        <p:nvSpPr>
          <p:cNvPr id="2" name="TextBox 1">
            <a:extLst>
              <a:ext uri="{FF2B5EF4-FFF2-40B4-BE49-F238E27FC236}">
                <a16:creationId xmlns:a16="http://schemas.microsoft.com/office/drawing/2014/main" id="{57ABBFF2-1F0E-05E6-A506-BF445E320058}"/>
              </a:ext>
            </a:extLst>
          </p:cNvPr>
          <p:cNvSpPr txBox="1"/>
          <p:nvPr/>
        </p:nvSpPr>
        <p:spPr>
          <a:xfrm>
            <a:off x="8483109" y="4683340"/>
            <a:ext cx="660891" cy="307777"/>
          </a:xfrm>
          <a:prstGeom prst="rect">
            <a:avLst/>
          </a:prstGeom>
          <a:noFill/>
        </p:spPr>
        <p:txBody>
          <a:bodyPr wrap="square" rtlCol="0">
            <a:spAutoFit/>
          </a:bodyPr>
          <a:lstStyle/>
          <a:p>
            <a:r>
              <a:rPr lang="fr-FR" dirty="0"/>
              <a:t>12</a:t>
            </a:r>
            <a:endParaRPr lang="fr-CH" dirty="0"/>
          </a:p>
        </p:txBody>
      </p:sp>
      <p:sp>
        <p:nvSpPr>
          <p:cNvPr id="9" name="ZoneTexte 8"/>
          <p:cNvSpPr txBox="1"/>
          <p:nvPr/>
        </p:nvSpPr>
        <p:spPr>
          <a:xfrm>
            <a:off x="3179702" y="4683340"/>
            <a:ext cx="2784296" cy="307777"/>
          </a:xfrm>
          <a:prstGeom prst="rect">
            <a:avLst/>
          </a:prstGeom>
          <a:noFill/>
        </p:spPr>
        <p:txBody>
          <a:bodyPr wrap="square" rtlCol="0">
            <a:spAutoFit/>
          </a:bodyPr>
          <a:lstStyle/>
          <a:p>
            <a:pPr algn="ctr"/>
            <a:r>
              <a:rPr lang="fr-FR" dirty="0">
                <a:latin typeface="Footlight MT Light" panose="0204060206030A020304" pitchFamily="18" charset="0"/>
              </a:rPr>
              <a:t>PFE: Détection des émotions</a:t>
            </a:r>
          </a:p>
        </p:txBody>
      </p:sp>
      <p:sp>
        <p:nvSpPr>
          <p:cNvPr id="10" name="ZoneTexte 9"/>
          <p:cNvSpPr txBox="1"/>
          <p:nvPr/>
        </p:nvSpPr>
        <p:spPr>
          <a:xfrm>
            <a:off x="269297" y="4683340"/>
            <a:ext cx="731290" cy="307777"/>
          </a:xfrm>
          <a:prstGeom prst="rect">
            <a:avLst/>
          </a:prstGeom>
          <a:noFill/>
        </p:spPr>
        <p:txBody>
          <a:bodyPr wrap="none" rtlCol="0">
            <a:spAutoFit/>
          </a:bodyPr>
          <a:lstStyle/>
          <a:p>
            <a:r>
              <a:rPr lang="fr-FR" dirty="0">
                <a:latin typeface="Footlight MT Light" panose="0204060206030A020304" pitchFamily="18" charset="0"/>
              </a:rPr>
              <a:t>SMI-S6</a:t>
            </a:r>
          </a:p>
        </p:txBody>
      </p:sp>
    </p:spTree>
    <p:extLst>
      <p:ext uri="{BB962C8B-B14F-4D97-AF65-F5344CB8AC3E}">
        <p14:creationId xmlns:p14="http://schemas.microsoft.com/office/powerpoint/2010/main" val="31180693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720000" y="0"/>
            <a:ext cx="7704000" cy="1717773"/>
          </a:xfrm>
          <a:prstGeom prst="rect">
            <a:avLst/>
          </a:prstGeom>
        </p:spPr>
        <p:txBody>
          <a:bodyPr spcFirstLastPara="1" wrap="square" lIns="91425" tIns="91425" rIns="91425" bIns="91425" anchor="t" anchorCtr="0">
            <a:noAutofit/>
          </a:bodyPr>
          <a:lstStyle/>
          <a:p>
            <a:pPr lvl="0" algn="ctr">
              <a:lnSpc>
                <a:spcPct val="200000"/>
              </a:lnSpc>
            </a:pPr>
            <a:r>
              <a:rPr lang="fr-FR" sz="3600" dirty="0">
                <a:latin typeface="Inter" panose="020B0604020202020204" charset="0"/>
                <a:ea typeface="Inter" panose="020B0604020202020204" charset="0"/>
                <a:cs typeface="Inter"/>
                <a:sym typeface="Inter"/>
              </a:rPr>
              <a:t>3. Implémentation</a:t>
            </a:r>
          </a:p>
        </p:txBody>
      </p:sp>
      <p:sp>
        <p:nvSpPr>
          <p:cNvPr id="271" name="Google Shape;271;p33"/>
          <p:cNvSpPr txBox="1">
            <a:spLocks noGrp="1"/>
          </p:cNvSpPr>
          <p:nvPr>
            <p:ph type="subTitle" idx="1"/>
          </p:nvPr>
        </p:nvSpPr>
        <p:spPr>
          <a:xfrm>
            <a:off x="485340" y="1717774"/>
            <a:ext cx="4794232" cy="2890726"/>
          </a:xfrm>
          <a:prstGeom prst="rect">
            <a:avLst/>
          </a:prstGeom>
        </p:spPr>
        <p:txBody>
          <a:bodyPr spcFirstLastPara="1" wrap="square" lIns="91425" tIns="91425" rIns="91425" bIns="91425" anchor="t" anchorCtr="0">
            <a:noAutofit/>
          </a:bodyPr>
          <a:lstStyle/>
          <a:p>
            <a:pPr marL="171450" indent="-171450" algn="just">
              <a:lnSpc>
                <a:spcPct val="250000"/>
              </a:lnSpc>
              <a:buFont typeface="Wingdings" panose="05000000000000000000" pitchFamily="2" charset="2"/>
              <a:buChar char="v"/>
            </a:pPr>
            <a:r>
              <a:rPr lang="fr-FR" dirty="0">
                <a:latin typeface="Comic Sans MS" panose="030F0702030302020204" pitchFamily="66" charset="0"/>
              </a:rPr>
              <a:t>35000 images de dimensions 28x28 utilisées dans le prétraitement.</a:t>
            </a:r>
          </a:p>
          <a:p>
            <a:pPr marL="171450" indent="-171450" algn="just">
              <a:lnSpc>
                <a:spcPct val="250000"/>
              </a:lnSpc>
              <a:buFont typeface="Wingdings" panose="05000000000000000000" pitchFamily="2" charset="2"/>
              <a:buChar char="v"/>
            </a:pPr>
            <a:r>
              <a:rPr lang="fr-FR" dirty="0">
                <a:latin typeface="Comic Sans MS" panose="030F0702030302020204" pitchFamily="66" charset="0"/>
              </a:rPr>
              <a:t>Les données sont divisées en sept classes d'émotions.</a:t>
            </a:r>
          </a:p>
          <a:p>
            <a:pPr marL="171450" indent="-171450" algn="just">
              <a:lnSpc>
                <a:spcPct val="250000"/>
              </a:lnSpc>
              <a:buFont typeface="Wingdings" panose="05000000000000000000" pitchFamily="2" charset="2"/>
              <a:buChar char="v"/>
            </a:pPr>
            <a:r>
              <a:rPr lang="fr-FR" dirty="0">
                <a:latin typeface="Comic Sans MS" panose="030F0702030302020204" pitchFamily="66" charset="0"/>
              </a:rPr>
              <a:t>10% des données sont réservées pour le test, tandis que 90% sont utilisées pour l'entraînement.</a:t>
            </a:r>
          </a:p>
        </p:txBody>
      </p:sp>
      <p:sp>
        <p:nvSpPr>
          <p:cNvPr id="275" name="Google Shape;275;p33"/>
          <p:cNvSpPr txBox="1">
            <a:spLocks noGrp="1"/>
          </p:cNvSpPr>
          <p:nvPr>
            <p:ph type="subTitle" idx="7"/>
          </p:nvPr>
        </p:nvSpPr>
        <p:spPr>
          <a:xfrm>
            <a:off x="485339" y="1320068"/>
            <a:ext cx="8321204" cy="377100"/>
          </a:xfrm>
          <a:prstGeom prst="rect">
            <a:avLst/>
          </a:prstGeom>
        </p:spPr>
        <p:txBody>
          <a:bodyPr spcFirstLastPara="1" wrap="square" lIns="91425" tIns="91425" rIns="91425" bIns="91425" anchor="b" anchorCtr="0">
            <a:noAutofit/>
          </a:bodyPr>
          <a:lstStyle/>
          <a:p>
            <a:pPr lvl="0" algn="l"/>
            <a:r>
              <a:rPr lang="fr-FR" dirty="0">
                <a:latin typeface="Inter"/>
                <a:ea typeface="Inter"/>
                <a:cs typeface="Inter"/>
                <a:sym typeface="Inter"/>
              </a:rPr>
              <a:t>3.1. Description des données</a:t>
            </a:r>
          </a:p>
        </p:txBody>
      </p:sp>
      <p:cxnSp>
        <p:nvCxnSpPr>
          <p:cNvPr id="283" name="Google Shape;283;p33"/>
          <p:cNvCxnSpPr/>
          <p:nvPr/>
        </p:nvCxnSpPr>
        <p:spPr>
          <a:xfrm>
            <a:off x="1950" y="44702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4" name="Google Shape;284;p33"/>
          <p:cNvCxnSpPr/>
          <p:nvPr/>
        </p:nvCxnSpPr>
        <p:spPr>
          <a:xfrm>
            <a:off x="1950" y="114707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5" name="Google Shape;285;p33"/>
          <p:cNvCxnSpPr/>
          <p:nvPr/>
        </p:nvCxnSpPr>
        <p:spPr>
          <a:xfrm>
            <a:off x="1950" y="4608500"/>
            <a:ext cx="9139800" cy="0"/>
          </a:xfrm>
          <a:prstGeom prst="straightConnector1">
            <a:avLst/>
          </a:prstGeom>
          <a:noFill/>
          <a:ln w="9525" cap="flat" cmpd="sng">
            <a:solidFill>
              <a:schemeClr val="dk1"/>
            </a:solidFill>
            <a:prstDash val="solid"/>
            <a:round/>
            <a:headEnd type="none" w="med" len="med"/>
            <a:tailEnd type="none" w="med" len="med"/>
          </a:ln>
        </p:spPr>
      </p:cxnSp>
      <p:pic>
        <p:nvPicPr>
          <p:cNvPr id="2" name="Imag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9572" y="1167681"/>
            <a:ext cx="3885846" cy="3440817"/>
          </a:xfrm>
          <a:prstGeom prst="rect">
            <a:avLst/>
          </a:prstGeom>
        </p:spPr>
      </p:pic>
      <p:sp>
        <p:nvSpPr>
          <p:cNvPr id="3" name="TextBox 2">
            <a:extLst>
              <a:ext uri="{FF2B5EF4-FFF2-40B4-BE49-F238E27FC236}">
                <a16:creationId xmlns:a16="http://schemas.microsoft.com/office/drawing/2014/main" id="{8B0CF758-64C4-C403-EA16-15E0B14179A9}"/>
              </a:ext>
            </a:extLst>
          </p:cNvPr>
          <p:cNvSpPr txBox="1"/>
          <p:nvPr/>
        </p:nvSpPr>
        <p:spPr>
          <a:xfrm>
            <a:off x="8483109" y="4683340"/>
            <a:ext cx="660891" cy="307777"/>
          </a:xfrm>
          <a:prstGeom prst="rect">
            <a:avLst/>
          </a:prstGeom>
          <a:noFill/>
        </p:spPr>
        <p:txBody>
          <a:bodyPr wrap="square" rtlCol="0">
            <a:spAutoFit/>
          </a:bodyPr>
          <a:lstStyle/>
          <a:p>
            <a:r>
              <a:rPr lang="fr-FR" dirty="0"/>
              <a:t>13</a:t>
            </a:r>
            <a:endParaRPr lang="fr-CH" dirty="0"/>
          </a:p>
        </p:txBody>
      </p:sp>
      <p:sp>
        <p:nvSpPr>
          <p:cNvPr id="10" name="ZoneTexte 9"/>
          <p:cNvSpPr txBox="1"/>
          <p:nvPr/>
        </p:nvSpPr>
        <p:spPr>
          <a:xfrm>
            <a:off x="3179702" y="4683340"/>
            <a:ext cx="2784296" cy="307777"/>
          </a:xfrm>
          <a:prstGeom prst="rect">
            <a:avLst/>
          </a:prstGeom>
          <a:noFill/>
        </p:spPr>
        <p:txBody>
          <a:bodyPr wrap="square" rtlCol="0">
            <a:spAutoFit/>
          </a:bodyPr>
          <a:lstStyle/>
          <a:p>
            <a:pPr algn="ctr"/>
            <a:r>
              <a:rPr lang="fr-FR" dirty="0">
                <a:latin typeface="Footlight MT Light" panose="0204060206030A020304" pitchFamily="18" charset="0"/>
              </a:rPr>
              <a:t>PFE: Détection des émotions</a:t>
            </a:r>
          </a:p>
        </p:txBody>
      </p:sp>
      <p:sp>
        <p:nvSpPr>
          <p:cNvPr id="11" name="ZoneTexte 10"/>
          <p:cNvSpPr txBox="1"/>
          <p:nvPr/>
        </p:nvSpPr>
        <p:spPr>
          <a:xfrm>
            <a:off x="269297" y="4683340"/>
            <a:ext cx="731290" cy="307777"/>
          </a:xfrm>
          <a:prstGeom prst="rect">
            <a:avLst/>
          </a:prstGeom>
          <a:noFill/>
        </p:spPr>
        <p:txBody>
          <a:bodyPr wrap="none" rtlCol="0">
            <a:spAutoFit/>
          </a:bodyPr>
          <a:lstStyle/>
          <a:p>
            <a:r>
              <a:rPr lang="fr-FR" dirty="0">
                <a:latin typeface="Footlight MT Light" panose="0204060206030A020304" pitchFamily="18" charset="0"/>
              </a:rPr>
              <a:t>SMI-S6</a:t>
            </a:r>
          </a:p>
        </p:txBody>
      </p:sp>
    </p:spTree>
    <p:extLst>
      <p:ext uri="{BB962C8B-B14F-4D97-AF65-F5344CB8AC3E}">
        <p14:creationId xmlns:p14="http://schemas.microsoft.com/office/powerpoint/2010/main" val="34874764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720000" y="0"/>
            <a:ext cx="7704000" cy="1717773"/>
          </a:xfrm>
          <a:prstGeom prst="rect">
            <a:avLst/>
          </a:prstGeom>
        </p:spPr>
        <p:txBody>
          <a:bodyPr spcFirstLastPara="1" wrap="square" lIns="91425" tIns="91425" rIns="91425" bIns="91425" anchor="t" anchorCtr="0">
            <a:noAutofit/>
          </a:bodyPr>
          <a:lstStyle/>
          <a:p>
            <a:pPr lvl="0" algn="ctr">
              <a:lnSpc>
                <a:spcPct val="200000"/>
              </a:lnSpc>
            </a:pPr>
            <a:r>
              <a:rPr lang="fr-FR" sz="3600" dirty="0">
                <a:latin typeface="Inter" panose="020B0604020202020204" charset="0"/>
                <a:ea typeface="Inter" panose="020B0604020202020204" charset="0"/>
                <a:cs typeface="Inter"/>
                <a:sym typeface="Inter"/>
              </a:rPr>
              <a:t>3. Implémentation</a:t>
            </a:r>
          </a:p>
        </p:txBody>
      </p:sp>
      <p:sp>
        <p:nvSpPr>
          <p:cNvPr id="275" name="Google Shape;275;p33"/>
          <p:cNvSpPr txBox="1">
            <a:spLocks noGrp="1"/>
          </p:cNvSpPr>
          <p:nvPr>
            <p:ph type="subTitle" idx="7"/>
          </p:nvPr>
        </p:nvSpPr>
        <p:spPr>
          <a:xfrm>
            <a:off x="485339" y="1320068"/>
            <a:ext cx="8321204" cy="377100"/>
          </a:xfrm>
          <a:prstGeom prst="rect">
            <a:avLst/>
          </a:prstGeom>
        </p:spPr>
        <p:txBody>
          <a:bodyPr spcFirstLastPara="1" wrap="square" lIns="91425" tIns="91425" rIns="91425" bIns="91425" anchor="b" anchorCtr="0">
            <a:noAutofit/>
          </a:bodyPr>
          <a:lstStyle/>
          <a:p>
            <a:pPr lvl="0" algn="l"/>
            <a:r>
              <a:rPr lang="fr-FR" dirty="0">
                <a:latin typeface="Inter"/>
                <a:ea typeface="Inter"/>
                <a:cs typeface="Inter"/>
                <a:sym typeface="Inter"/>
              </a:rPr>
              <a:t>3.2. Description du model</a:t>
            </a:r>
          </a:p>
        </p:txBody>
      </p:sp>
      <p:cxnSp>
        <p:nvCxnSpPr>
          <p:cNvPr id="283" name="Google Shape;283;p33"/>
          <p:cNvCxnSpPr/>
          <p:nvPr/>
        </p:nvCxnSpPr>
        <p:spPr>
          <a:xfrm>
            <a:off x="1950" y="447025"/>
            <a:ext cx="9139800" cy="0"/>
          </a:xfrm>
          <a:prstGeom prst="straightConnector1">
            <a:avLst/>
          </a:prstGeom>
          <a:noFill/>
          <a:ln w="9525" cap="flat" cmpd="sng">
            <a:solidFill>
              <a:schemeClr val="dk1"/>
            </a:solidFill>
            <a:prstDash val="solid"/>
            <a:round/>
            <a:headEnd type="none" w="med" len="med"/>
            <a:tailEnd type="none" w="med" len="med"/>
          </a:ln>
        </p:spPr>
      </p:cxnSp>
      <p:pic>
        <p:nvPicPr>
          <p:cNvPr id="3" name="Imag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9180" y="1626606"/>
            <a:ext cx="5825340" cy="3437889"/>
          </a:xfrm>
          <a:prstGeom prst="rect">
            <a:avLst/>
          </a:prstGeom>
        </p:spPr>
      </p:pic>
      <p:cxnSp>
        <p:nvCxnSpPr>
          <p:cNvPr id="284" name="Google Shape;284;p33"/>
          <p:cNvCxnSpPr/>
          <p:nvPr/>
        </p:nvCxnSpPr>
        <p:spPr>
          <a:xfrm>
            <a:off x="1950" y="114707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5" name="Google Shape;285;p33"/>
          <p:cNvCxnSpPr/>
          <p:nvPr/>
        </p:nvCxnSpPr>
        <p:spPr>
          <a:xfrm>
            <a:off x="1950" y="4608500"/>
            <a:ext cx="9139800" cy="0"/>
          </a:xfrm>
          <a:prstGeom prst="straightConnector1">
            <a:avLst/>
          </a:prstGeom>
          <a:noFill/>
          <a:ln w="9525" cap="flat" cmpd="sng">
            <a:solidFill>
              <a:schemeClr val="dk1"/>
            </a:solidFill>
            <a:prstDash val="solid"/>
            <a:round/>
            <a:headEnd type="none" w="med" len="med"/>
            <a:tailEnd type="none" w="med" len="med"/>
          </a:ln>
        </p:spPr>
      </p:cxnSp>
      <p:sp>
        <p:nvSpPr>
          <p:cNvPr id="2" name="TextBox 1">
            <a:extLst>
              <a:ext uri="{FF2B5EF4-FFF2-40B4-BE49-F238E27FC236}">
                <a16:creationId xmlns:a16="http://schemas.microsoft.com/office/drawing/2014/main" id="{8021503E-0987-B35B-B570-6C98F0424FA2}"/>
              </a:ext>
            </a:extLst>
          </p:cNvPr>
          <p:cNvSpPr txBox="1"/>
          <p:nvPr/>
        </p:nvSpPr>
        <p:spPr>
          <a:xfrm>
            <a:off x="8483109" y="4683340"/>
            <a:ext cx="660891" cy="307777"/>
          </a:xfrm>
          <a:prstGeom prst="rect">
            <a:avLst/>
          </a:prstGeom>
          <a:noFill/>
        </p:spPr>
        <p:txBody>
          <a:bodyPr wrap="square" rtlCol="0">
            <a:spAutoFit/>
          </a:bodyPr>
          <a:lstStyle/>
          <a:p>
            <a:r>
              <a:rPr lang="fr-FR" dirty="0"/>
              <a:t>14</a:t>
            </a:r>
            <a:endParaRPr lang="fr-CH" dirty="0"/>
          </a:p>
        </p:txBody>
      </p:sp>
      <p:sp>
        <p:nvSpPr>
          <p:cNvPr id="10" name="ZoneTexte 9"/>
          <p:cNvSpPr txBox="1"/>
          <p:nvPr/>
        </p:nvSpPr>
        <p:spPr>
          <a:xfrm>
            <a:off x="269297" y="4683340"/>
            <a:ext cx="731290" cy="307777"/>
          </a:xfrm>
          <a:prstGeom prst="rect">
            <a:avLst/>
          </a:prstGeom>
          <a:noFill/>
        </p:spPr>
        <p:txBody>
          <a:bodyPr wrap="none" rtlCol="0">
            <a:spAutoFit/>
          </a:bodyPr>
          <a:lstStyle/>
          <a:p>
            <a:r>
              <a:rPr lang="fr-FR" dirty="0">
                <a:latin typeface="Footlight MT Light" panose="0204060206030A020304" pitchFamily="18" charset="0"/>
              </a:rPr>
              <a:t>SMI-S6</a:t>
            </a:r>
          </a:p>
        </p:txBody>
      </p:sp>
    </p:spTree>
    <p:extLst>
      <p:ext uri="{BB962C8B-B14F-4D97-AF65-F5344CB8AC3E}">
        <p14:creationId xmlns:p14="http://schemas.microsoft.com/office/powerpoint/2010/main" val="27826499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720000" y="0"/>
            <a:ext cx="7704000" cy="1717773"/>
          </a:xfrm>
          <a:prstGeom prst="rect">
            <a:avLst/>
          </a:prstGeom>
        </p:spPr>
        <p:txBody>
          <a:bodyPr spcFirstLastPara="1" wrap="square" lIns="91425" tIns="91425" rIns="91425" bIns="91425" anchor="t" anchorCtr="0">
            <a:noAutofit/>
          </a:bodyPr>
          <a:lstStyle/>
          <a:p>
            <a:pPr lvl="0" algn="ctr">
              <a:lnSpc>
                <a:spcPct val="200000"/>
              </a:lnSpc>
            </a:pPr>
            <a:r>
              <a:rPr lang="fr-FR" sz="3600" dirty="0">
                <a:latin typeface="Inter" panose="020B0604020202020204" charset="0"/>
                <a:ea typeface="Inter" panose="020B0604020202020204" charset="0"/>
                <a:cs typeface="Inter"/>
                <a:sym typeface="Inter"/>
              </a:rPr>
              <a:t>3. Implémentation</a:t>
            </a:r>
          </a:p>
        </p:txBody>
      </p:sp>
      <mc:AlternateContent xmlns:mc="http://schemas.openxmlformats.org/markup-compatibility/2006" xmlns:a14="http://schemas.microsoft.com/office/drawing/2010/main">
        <mc:Choice Requires="a14">
          <p:sp>
            <p:nvSpPr>
              <p:cNvPr id="271" name="Google Shape;271;p33"/>
              <p:cNvSpPr txBox="1">
                <a:spLocks noGrp="1"/>
              </p:cNvSpPr>
              <p:nvPr>
                <p:ph type="subTitle" idx="1"/>
              </p:nvPr>
            </p:nvSpPr>
            <p:spPr>
              <a:xfrm>
                <a:off x="485339" y="1717774"/>
                <a:ext cx="8321203" cy="2890726"/>
              </a:xfrm>
              <a:prstGeom prst="rect">
                <a:avLst/>
              </a:prstGeom>
            </p:spPr>
            <p:txBody>
              <a:bodyPr spcFirstLastPara="1" wrap="square" lIns="91425" tIns="91425" rIns="91425" bIns="91425" anchor="t" anchorCtr="0">
                <a:noAutofit/>
              </a:bodyPr>
              <a:lstStyle/>
              <a:p>
                <a:pPr marL="0" indent="0" algn="just">
                  <a:lnSpc>
                    <a:spcPct val="200000"/>
                  </a:lnSpc>
                </a:pPr>
                <a:r>
                  <a:rPr lang="fr-FR" b="1" dirty="0">
                    <a:latin typeface="Comic Sans MS" panose="030F0702030302020204" pitchFamily="66" charset="0"/>
                  </a:rPr>
                  <a:t>L’algorithme d’optimisation:</a:t>
                </a:r>
              </a:p>
              <a:p>
                <a:pPr marL="171450" indent="-171450" algn="just">
                  <a:lnSpc>
                    <a:spcPct val="200000"/>
                  </a:lnSpc>
                  <a:buFont typeface="Wingdings" panose="05000000000000000000" pitchFamily="2" charset="2"/>
                  <a:buChar char="v"/>
                </a:pPr>
                <a:r>
                  <a:rPr lang="fr-FR" dirty="0">
                    <a:latin typeface="Comic Sans MS" panose="030F0702030302020204" pitchFamily="66" charset="0"/>
                  </a:rPr>
                  <a:t>L'algorithme ADAM (Adaptive Moment Estimation). Sa formule mathématique: </a:t>
                </a:r>
                <a14:m>
                  <m:oMath xmlns:m="http://schemas.openxmlformats.org/officeDocument/2006/math">
                    <m:sSub>
                      <m:sSubPr>
                        <m:ctrlPr>
                          <a:rPr lang="fr-FR" sz="1400" b="1" i="1" smtClean="0">
                            <a:latin typeface="Cambria Math" panose="02040503050406030204" pitchFamily="18" charset="0"/>
                          </a:rPr>
                        </m:ctrlPr>
                      </m:sSubPr>
                      <m:e>
                        <m:r>
                          <a:rPr lang="fr-FR" sz="1400" b="1" i="1" smtClean="0">
                            <a:latin typeface="Cambria Math" panose="02040503050406030204" pitchFamily="18" charset="0"/>
                            <a:ea typeface="Cambria Math" panose="02040503050406030204" pitchFamily="18" charset="0"/>
                          </a:rPr>
                          <m:t>𝜽</m:t>
                        </m:r>
                      </m:e>
                      <m:sub>
                        <m:r>
                          <a:rPr lang="en-US" sz="1400" b="1" i="1" smtClean="0">
                            <a:latin typeface="Cambria Math" panose="02040503050406030204" pitchFamily="18" charset="0"/>
                          </a:rPr>
                          <m:t>𝒕</m:t>
                        </m:r>
                        <m:r>
                          <a:rPr lang="en-US" sz="1400" b="1" i="1" smtClean="0">
                            <a:latin typeface="Cambria Math" panose="02040503050406030204" pitchFamily="18" charset="0"/>
                          </a:rPr>
                          <m:t>+</m:t>
                        </m:r>
                        <m:r>
                          <a:rPr lang="en-US" sz="1400" b="1" i="1" smtClean="0">
                            <a:latin typeface="Cambria Math" panose="02040503050406030204" pitchFamily="18" charset="0"/>
                          </a:rPr>
                          <m:t>𝟏</m:t>
                        </m:r>
                      </m:sub>
                    </m:sSub>
                    <m:r>
                      <a:rPr lang="en-US" sz="1400" b="1" i="1" smtClean="0">
                        <a:latin typeface="Cambria Math" panose="02040503050406030204" pitchFamily="18" charset="0"/>
                      </a:rPr>
                      <m:t>= </m:t>
                    </m:r>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ea typeface="Cambria Math" panose="02040503050406030204" pitchFamily="18" charset="0"/>
                          </a:rPr>
                          <m:t>𝜽</m:t>
                        </m:r>
                      </m:e>
                      <m:sub>
                        <m:r>
                          <a:rPr lang="en-US" sz="1400" b="1" i="1" smtClean="0">
                            <a:latin typeface="Cambria Math" panose="02040503050406030204" pitchFamily="18" charset="0"/>
                          </a:rPr>
                          <m:t>𝒕</m:t>
                        </m:r>
                      </m:sub>
                    </m:sSub>
                    <m:r>
                      <a:rPr lang="en-US" sz="1400" b="1" i="1" smtClean="0">
                        <a:latin typeface="Cambria Math" panose="02040503050406030204" pitchFamily="18" charset="0"/>
                      </a:rPr>
                      <m:t>−</m:t>
                    </m:r>
                    <m:f>
                      <m:fPr>
                        <m:ctrlPr>
                          <a:rPr lang="en-US" sz="1400" b="1" i="1" smtClean="0">
                            <a:latin typeface="Cambria Math" panose="02040503050406030204" pitchFamily="18" charset="0"/>
                          </a:rPr>
                        </m:ctrlPr>
                      </m:fPr>
                      <m:num>
                        <m:r>
                          <a:rPr lang="en-US" sz="1400" b="1" i="1" smtClean="0">
                            <a:latin typeface="Cambria Math" panose="02040503050406030204" pitchFamily="18" charset="0"/>
                            <a:ea typeface="Cambria Math" panose="02040503050406030204" pitchFamily="18" charset="0"/>
                          </a:rPr>
                          <m:t>𝜶</m:t>
                        </m:r>
                      </m:num>
                      <m:den>
                        <m:rad>
                          <m:radPr>
                            <m:degHide m:val="on"/>
                            <m:ctrlPr>
                              <a:rPr lang="en-US" sz="1400" b="1" i="1" smtClean="0">
                                <a:latin typeface="Cambria Math" panose="02040503050406030204" pitchFamily="18" charset="0"/>
                              </a:rPr>
                            </m:ctrlPr>
                          </m:radPr>
                          <m:deg/>
                          <m:e>
                            <m:sSub>
                              <m:sSubPr>
                                <m:ctrlPr>
                                  <a:rPr lang="en-US" sz="1400" b="1" i="1" smtClean="0">
                                    <a:latin typeface="Cambria Math" panose="02040503050406030204" pitchFamily="18" charset="0"/>
                                  </a:rPr>
                                </m:ctrlPr>
                              </m:sSubPr>
                              <m:e>
                                <m:acc>
                                  <m:accPr>
                                    <m:chr m:val="̂"/>
                                    <m:ctrlPr>
                                      <a:rPr lang="en-US" sz="1400" b="1" i="1" smtClean="0">
                                        <a:latin typeface="Cambria Math" panose="02040503050406030204" pitchFamily="18" charset="0"/>
                                      </a:rPr>
                                    </m:ctrlPr>
                                  </m:accPr>
                                  <m:e>
                                    <m:r>
                                      <a:rPr lang="en-US" sz="1400" b="1" i="1" smtClean="0">
                                        <a:latin typeface="Cambria Math" panose="02040503050406030204" pitchFamily="18" charset="0"/>
                                      </a:rPr>
                                      <m:t>𝒗</m:t>
                                    </m:r>
                                  </m:e>
                                </m:acc>
                              </m:e>
                              <m:sub>
                                <m:r>
                                  <a:rPr lang="en-US" sz="1400" b="1" i="1" smtClean="0">
                                    <a:latin typeface="Cambria Math" panose="02040503050406030204" pitchFamily="18" charset="0"/>
                                  </a:rPr>
                                  <m:t>𝒕</m:t>
                                </m:r>
                              </m:sub>
                            </m:sSub>
                          </m:e>
                        </m:rad>
                        <m:r>
                          <a:rPr lang="en-US" sz="1400" b="1" i="1" smtClean="0">
                            <a:latin typeface="Cambria Math" panose="02040503050406030204" pitchFamily="18" charset="0"/>
                          </a:rPr>
                          <m:t>+</m:t>
                        </m:r>
                        <m:r>
                          <a:rPr lang="en-US" sz="1400" b="1" i="1" smtClean="0">
                            <a:latin typeface="Cambria Math" panose="02040503050406030204" pitchFamily="18" charset="0"/>
                            <a:ea typeface="Cambria Math" panose="02040503050406030204" pitchFamily="18" charset="0"/>
                          </a:rPr>
                          <m:t>𝝐</m:t>
                        </m:r>
                      </m:den>
                    </m:f>
                    <m:sSub>
                      <m:sSubPr>
                        <m:ctrlPr>
                          <a:rPr lang="en-US" sz="1400" b="1" i="1" smtClean="0">
                            <a:latin typeface="Cambria Math" panose="02040503050406030204" pitchFamily="18" charset="0"/>
                          </a:rPr>
                        </m:ctrlPr>
                      </m:sSubPr>
                      <m:e>
                        <m:acc>
                          <m:accPr>
                            <m:chr m:val="̂"/>
                            <m:ctrlPr>
                              <a:rPr lang="en-US" sz="1400" b="1" i="1" smtClean="0">
                                <a:latin typeface="Cambria Math" panose="02040503050406030204" pitchFamily="18" charset="0"/>
                              </a:rPr>
                            </m:ctrlPr>
                          </m:accPr>
                          <m:e>
                            <m:r>
                              <a:rPr lang="en-US" sz="1400" b="1" i="1" smtClean="0">
                                <a:latin typeface="Cambria Math" panose="02040503050406030204" pitchFamily="18" charset="0"/>
                              </a:rPr>
                              <m:t>𝒎</m:t>
                            </m:r>
                          </m:e>
                        </m:acc>
                      </m:e>
                      <m:sub>
                        <m:r>
                          <a:rPr lang="en-US" sz="1400" b="1" i="1" smtClean="0">
                            <a:latin typeface="Cambria Math" panose="02040503050406030204" pitchFamily="18" charset="0"/>
                          </a:rPr>
                          <m:t>𝒕</m:t>
                        </m:r>
                      </m:sub>
                    </m:sSub>
                  </m:oMath>
                </a14:m>
                <a:endParaRPr lang="fr-FR" b="1" dirty="0">
                  <a:latin typeface="Comic Sans MS" panose="030F0702030302020204" pitchFamily="66" charset="0"/>
                </a:endParaRPr>
              </a:p>
              <a:p>
                <a:pPr algn="l"/>
                <a:r>
                  <a:rPr lang="fr-FR" dirty="0">
                    <a:latin typeface="Comic Sans MS" panose="030F0702030302020204" pitchFamily="66" charset="0"/>
                  </a:rPr>
                  <a:t>avec:	</a:t>
                </a:r>
                <a14:m>
                  <m:oMath xmlns:m="http://schemas.openxmlformats.org/officeDocument/2006/math">
                    <m:sSub>
                      <m:sSubPr>
                        <m:ctrlPr>
                          <a:rPr lang="en-US" b="1" i="1">
                            <a:latin typeface="Cambria Math" panose="02040503050406030204" pitchFamily="18" charset="0"/>
                          </a:rPr>
                        </m:ctrlPr>
                      </m:sSubPr>
                      <m:e>
                        <m:acc>
                          <m:accPr>
                            <m:chr m:val="̂"/>
                            <m:ctrlPr>
                              <a:rPr lang="en-US" b="1" i="1">
                                <a:latin typeface="Cambria Math" panose="02040503050406030204" pitchFamily="18" charset="0"/>
                              </a:rPr>
                            </m:ctrlPr>
                          </m:accPr>
                          <m:e>
                            <m:r>
                              <a:rPr lang="en-US" b="1" i="1">
                                <a:latin typeface="Cambria Math" panose="02040503050406030204" pitchFamily="18" charset="0"/>
                              </a:rPr>
                              <m:t>𝒎</m:t>
                            </m:r>
                          </m:e>
                        </m:acc>
                      </m:e>
                      <m:sub>
                        <m:r>
                          <a:rPr lang="en-US" b="1" i="1">
                            <a:latin typeface="Cambria Math" panose="02040503050406030204" pitchFamily="18" charset="0"/>
                          </a:rPr>
                          <m:t>𝒕</m:t>
                        </m:r>
                      </m:sub>
                    </m:sSub>
                  </m:oMath>
                </a14:m>
                <a:r>
                  <a:rPr lang="fr-FR" dirty="0">
                    <a:latin typeface="Comic Sans MS" panose="030F0702030302020204" pitchFamily="66" charset="0"/>
                  </a:rPr>
                  <a:t>  	:​  La moyenne mobile des gradients,</a:t>
                </a:r>
              </a:p>
              <a:p>
                <a:pPr algn="l"/>
                <a:r>
                  <a:rPr lang="fr-FR" dirty="0">
                    <a:latin typeface="Comic Sans MS" panose="030F0702030302020204" pitchFamily="66" charset="0"/>
                  </a:rPr>
                  <a:t>		</a:t>
                </a:r>
                <a14:m>
                  <m:oMath xmlns:m="http://schemas.openxmlformats.org/officeDocument/2006/math">
                    <m:sSub>
                      <m:sSubPr>
                        <m:ctrlPr>
                          <a:rPr lang="en-US" b="1" i="1">
                            <a:latin typeface="Cambria Math" panose="02040503050406030204" pitchFamily="18" charset="0"/>
                          </a:rPr>
                        </m:ctrlPr>
                      </m:sSubPr>
                      <m:e>
                        <m:acc>
                          <m:accPr>
                            <m:chr m:val="̂"/>
                            <m:ctrlPr>
                              <a:rPr lang="en-US" b="1" i="1">
                                <a:latin typeface="Cambria Math" panose="02040503050406030204" pitchFamily="18" charset="0"/>
                              </a:rPr>
                            </m:ctrlPr>
                          </m:accPr>
                          <m:e>
                            <m:r>
                              <a:rPr lang="en-US" b="1" i="1">
                                <a:latin typeface="Cambria Math" panose="02040503050406030204" pitchFamily="18" charset="0"/>
                              </a:rPr>
                              <m:t>𝒗</m:t>
                            </m:r>
                          </m:e>
                        </m:acc>
                      </m:e>
                      <m:sub>
                        <m:r>
                          <a:rPr lang="en-US" b="1" i="1">
                            <a:latin typeface="Cambria Math" panose="02040503050406030204" pitchFamily="18" charset="0"/>
                          </a:rPr>
                          <m:t>𝒕</m:t>
                        </m:r>
                      </m:sub>
                    </m:sSub>
                  </m:oMath>
                </a14:m>
                <a:r>
                  <a:rPr lang="fr-FR" i="1" dirty="0">
                    <a:latin typeface="Comic Sans MS" panose="030F0702030302020204" pitchFamily="66" charset="0"/>
                  </a:rPr>
                  <a:t> 	</a:t>
                </a:r>
                <a:r>
                  <a:rPr lang="fr-FR" dirty="0">
                    <a:latin typeface="Comic Sans MS" panose="030F0702030302020204" pitchFamily="66" charset="0"/>
                  </a:rPr>
                  <a:t>:  La moyenne mobile des carrés des gradients,</a:t>
                </a:r>
              </a:p>
              <a:p>
                <a:pPr algn="l"/>
                <a:r>
                  <a:rPr lang="fr-FR" dirty="0">
                    <a:latin typeface="Comic Sans MS" panose="030F0702030302020204" pitchFamily="66" charset="0"/>
                  </a:rPr>
                  <a:t>		</a:t>
                </a:r>
                <a:r>
                  <a:rPr lang="fr-FR" dirty="0">
                    <a:latin typeface="Comic Sans MS" panose="030F0702030302020204" pitchFamily="66" charset="0"/>
                    <a:ea typeface="Cambria Math" panose="02040503050406030204" pitchFamily="18" charset="0"/>
                  </a:rPr>
                  <a:t>𝜶</a:t>
                </a:r>
                <a:r>
                  <a:rPr lang="fr-FR" dirty="0">
                    <a:latin typeface="Comic Sans MS" panose="030F0702030302020204" pitchFamily="66" charset="0"/>
                  </a:rPr>
                  <a:t> 	:  Le taux d'apprentissage,</a:t>
                </a:r>
              </a:p>
              <a:p>
                <a:pPr algn="l"/>
                <a:r>
                  <a:rPr lang="fr-FR" dirty="0">
                    <a:latin typeface="Comic Sans MS" panose="030F0702030302020204" pitchFamily="66" charset="0"/>
                  </a:rPr>
                  <a:t>		</a:t>
                </a:r>
                <a:r>
                  <a:rPr lang="fr-FR" b="1" i="1" dirty="0">
                    <a:latin typeface="Comic Sans MS" panose="030F0702030302020204" pitchFamily="66" charset="0"/>
                  </a:rPr>
                  <a:t>ϵ</a:t>
                </a:r>
                <a:r>
                  <a:rPr lang="fr-FR" dirty="0">
                    <a:latin typeface="Comic Sans MS" panose="030F0702030302020204" pitchFamily="66" charset="0"/>
                  </a:rPr>
                  <a:t> 	:  Une petite valeur ajoutée pour la stabilité numérique,</a:t>
                </a:r>
              </a:p>
              <a:p>
                <a:pPr algn="l"/>
                <a:r>
                  <a:rPr lang="fr-FR" dirty="0">
                    <a:latin typeface="Comic Sans MS" panose="030F0702030302020204" pitchFamily="66" charset="0"/>
                  </a:rPr>
                  <a:t>		</a:t>
                </a:r>
                <a14:m>
                  <m:oMath xmlns:m="http://schemas.openxmlformats.org/officeDocument/2006/math">
                    <m:sSub>
                      <m:sSubPr>
                        <m:ctrlPr>
                          <a:rPr lang="fr-FR" b="1" i="1">
                            <a:latin typeface="Cambria Math" panose="02040503050406030204" pitchFamily="18" charset="0"/>
                          </a:rPr>
                        </m:ctrlPr>
                      </m:sSubPr>
                      <m:e>
                        <m:r>
                          <a:rPr lang="fr-FR" b="1" i="1">
                            <a:latin typeface="Cambria Math" panose="02040503050406030204" pitchFamily="18" charset="0"/>
                            <a:ea typeface="Cambria Math" panose="02040503050406030204" pitchFamily="18" charset="0"/>
                          </a:rPr>
                          <m:t>𝜽</m:t>
                        </m:r>
                      </m:e>
                      <m:sub>
                        <m:r>
                          <a:rPr lang="en-US" b="1" i="1">
                            <a:latin typeface="Cambria Math" panose="02040503050406030204" pitchFamily="18" charset="0"/>
                          </a:rPr>
                          <m:t>𝒕</m:t>
                        </m:r>
                        <m:r>
                          <a:rPr lang="en-US" b="1" i="1">
                            <a:latin typeface="Cambria Math" panose="02040503050406030204" pitchFamily="18" charset="0"/>
                          </a:rPr>
                          <m:t>+</m:t>
                        </m:r>
                        <m:r>
                          <a:rPr lang="en-US" b="1" i="1">
                            <a:latin typeface="Cambria Math" panose="02040503050406030204" pitchFamily="18" charset="0"/>
                          </a:rPr>
                          <m:t>𝟏</m:t>
                        </m:r>
                      </m:sub>
                    </m:sSub>
                  </m:oMath>
                </a14:m>
                <a:r>
                  <a:rPr lang="fr-FR" dirty="0">
                    <a:latin typeface="Comic Sans MS" panose="030F0702030302020204" pitchFamily="66" charset="0"/>
                  </a:rPr>
                  <a:t> et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𝜽</m:t>
                        </m:r>
                      </m:e>
                      <m:sub>
                        <m:r>
                          <a:rPr lang="en-US" b="1" i="1">
                            <a:latin typeface="Cambria Math" panose="02040503050406030204" pitchFamily="18" charset="0"/>
                          </a:rPr>
                          <m:t>𝒕</m:t>
                        </m:r>
                      </m:sub>
                    </m:sSub>
                  </m:oMath>
                </a14:m>
                <a:r>
                  <a:rPr lang="fr-FR" dirty="0">
                    <a:latin typeface="Comic Sans MS" panose="030F0702030302020204" pitchFamily="66" charset="0"/>
                  </a:rPr>
                  <a:t> 	</a:t>
                </a:r>
                <a:r>
                  <a:rPr lang="fr-FR">
                    <a:latin typeface="Comic Sans MS" panose="030F0702030302020204" pitchFamily="66" charset="0"/>
                  </a:rPr>
                  <a:t>:  Les </a:t>
                </a:r>
                <a:r>
                  <a:rPr lang="fr-FR" dirty="0">
                    <a:latin typeface="Comic Sans MS" panose="030F0702030302020204" pitchFamily="66" charset="0"/>
                  </a:rPr>
                  <a:t>paramètres au temps 𝑡</a:t>
                </a:r>
                <a:r>
                  <a:rPr lang="fr-FR" i="1" dirty="0">
                    <a:latin typeface="Comic Sans MS" panose="030F0702030302020204" pitchFamily="66" charset="0"/>
                  </a:rPr>
                  <a:t>+1 et  t.</a:t>
                </a:r>
                <a:endParaRPr lang="fr-FR" dirty="0">
                  <a:latin typeface="Comic Sans MS" panose="030F0702030302020204" pitchFamily="66" charset="0"/>
                </a:endParaRPr>
              </a:p>
              <a:p>
                <a:pPr marL="0" indent="0" algn="just">
                  <a:lnSpc>
                    <a:spcPct val="200000"/>
                  </a:lnSpc>
                </a:pPr>
                <a:endParaRPr lang="fr-FR" dirty="0">
                  <a:latin typeface="Comic Sans MS" panose="030F0702030302020204" pitchFamily="66" charset="0"/>
                </a:endParaRPr>
              </a:p>
            </p:txBody>
          </p:sp>
        </mc:Choice>
        <mc:Fallback xmlns="">
          <p:sp>
            <p:nvSpPr>
              <p:cNvPr id="271" name="Google Shape;271;p33"/>
              <p:cNvSpPr txBox="1">
                <a:spLocks noGrp="1" noRot="1" noChangeAspect="1" noMove="1" noResize="1" noEditPoints="1" noAdjustHandles="1" noChangeArrowheads="1" noChangeShapeType="1" noTextEdit="1"/>
              </p:cNvSpPr>
              <p:nvPr>
                <p:ph type="subTitle" idx="1"/>
              </p:nvPr>
            </p:nvSpPr>
            <p:spPr>
              <a:xfrm>
                <a:off x="485339" y="1717774"/>
                <a:ext cx="8321203" cy="2890726"/>
              </a:xfrm>
              <a:prstGeom prst="rect">
                <a:avLst/>
              </a:prstGeom>
              <a:blipFill rotWithShape="0">
                <a:blip r:embed="rId3"/>
                <a:stretch>
                  <a:fillRect l="-73"/>
                </a:stretch>
              </a:blipFill>
            </p:spPr>
            <p:txBody>
              <a:bodyPr/>
              <a:lstStyle/>
              <a:p>
                <a:r>
                  <a:rPr lang="fr-FR">
                    <a:noFill/>
                  </a:rPr>
                  <a:t> </a:t>
                </a:r>
              </a:p>
            </p:txBody>
          </p:sp>
        </mc:Fallback>
      </mc:AlternateContent>
      <p:sp>
        <p:nvSpPr>
          <p:cNvPr id="275" name="Google Shape;275;p33"/>
          <p:cNvSpPr txBox="1">
            <a:spLocks noGrp="1"/>
          </p:cNvSpPr>
          <p:nvPr>
            <p:ph type="subTitle" idx="7"/>
          </p:nvPr>
        </p:nvSpPr>
        <p:spPr>
          <a:xfrm>
            <a:off x="485339" y="1320068"/>
            <a:ext cx="8321204" cy="377100"/>
          </a:xfrm>
          <a:prstGeom prst="rect">
            <a:avLst/>
          </a:prstGeom>
        </p:spPr>
        <p:txBody>
          <a:bodyPr spcFirstLastPara="1" wrap="square" lIns="91425" tIns="91425" rIns="91425" bIns="91425" anchor="b" anchorCtr="0">
            <a:noAutofit/>
          </a:bodyPr>
          <a:lstStyle/>
          <a:p>
            <a:pPr lvl="0" algn="l"/>
            <a:r>
              <a:rPr lang="fr-FR" dirty="0">
                <a:latin typeface="Inter"/>
                <a:ea typeface="Inter"/>
                <a:cs typeface="Inter"/>
                <a:sym typeface="Inter"/>
              </a:rPr>
              <a:t>3.2. Description du modèle</a:t>
            </a:r>
          </a:p>
        </p:txBody>
      </p:sp>
      <p:cxnSp>
        <p:nvCxnSpPr>
          <p:cNvPr id="283" name="Google Shape;283;p33"/>
          <p:cNvCxnSpPr/>
          <p:nvPr/>
        </p:nvCxnSpPr>
        <p:spPr>
          <a:xfrm>
            <a:off x="1950" y="44702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4" name="Google Shape;284;p33"/>
          <p:cNvCxnSpPr/>
          <p:nvPr/>
        </p:nvCxnSpPr>
        <p:spPr>
          <a:xfrm>
            <a:off x="1950" y="114707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5" name="Google Shape;285;p33"/>
          <p:cNvCxnSpPr/>
          <p:nvPr/>
        </p:nvCxnSpPr>
        <p:spPr>
          <a:xfrm>
            <a:off x="1950" y="4608500"/>
            <a:ext cx="9139800" cy="0"/>
          </a:xfrm>
          <a:prstGeom prst="straightConnector1">
            <a:avLst/>
          </a:prstGeom>
          <a:noFill/>
          <a:ln w="9525" cap="flat" cmpd="sng">
            <a:solidFill>
              <a:schemeClr val="dk1"/>
            </a:solidFill>
            <a:prstDash val="solid"/>
            <a:round/>
            <a:headEnd type="none" w="med" len="med"/>
            <a:tailEnd type="none" w="med" len="med"/>
          </a:ln>
        </p:spPr>
      </p:cxnSp>
      <p:sp>
        <p:nvSpPr>
          <p:cNvPr id="2" name="TextBox 1">
            <a:extLst>
              <a:ext uri="{FF2B5EF4-FFF2-40B4-BE49-F238E27FC236}">
                <a16:creationId xmlns:a16="http://schemas.microsoft.com/office/drawing/2014/main" id="{B0E40A67-8F8A-EC6F-6DF6-9D3E608103D9}"/>
              </a:ext>
            </a:extLst>
          </p:cNvPr>
          <p:cNvSpPr txBox="1"/>
          <p:nvPr/>
        </p:nvSpPr>
        <p:spPr>
          <a:xfrm>
            <a:off x="8483109" y="4683340"/>
            <a:ext cx="660891" cy="307777"/>
          </a:xfrm>
          <a:prstGeom prst="rect">
            <a:avLst/>
          </a:prstGeom>
          <a:noFill/>
        </p:spPr>
        <p:txBody>
          <a:bodyPr wrap="square" rtlCol="0">
            <a:spAutoFit/>
          </a:bodyPr>
          <a:lstStyle/>
          <a:p>
            <a:r>
              <a:rPr lang="fr-FR" dirty="0"/>
              <a:t>15</a:t>
            </a:r>
            <a:endParaRPr lang="fr-CH" dirty="0"/>
          </a:p>
        </p:txBody>
      </p:sp>
      <p:sp>
        <p:nvSpPr>
          <p:cNvPr id="9" name="ZoneTexte 8"/>
          <p:cNvSpPr txBox="1"/>
          <p:nvPr/>
        </p:nvSpPr>
        <p:spPr>
          <a:xfrm>
            <a:off x="3179702" y="4683340"/>
            <a:ext cx="2784296" cy="307777"/>
          </a:xfrm>
          <a:prstGeom prst="rect">
            <a:avLst/>
          </a:prstGeom>
          <a:noFill/>
        </p:spPr>
        <p:txBody>
          <a:bodyPr wrap="square" rtlCol="0">
            <a:spAutoFit/>
          </a:bodyPr>
          <a:lstStyle/>
          <a:p>
            <a:pPr algn="ctr"/>
            <a:r>
              <a:rPr lang="fr-FR" dirty="0">
                <a:latin typeface="Footlight MT Light" panose="0204060206030A020304" pitchFamily="18" charset="0"/>
              </a:rPr>
              <a:t>PFE: Détection des émotions</a:t>
            </a:r>
          </a:p>
        </p:txBody>
      </p:sp>
      <p:sp>
        <p:nvSpPr>
          <p:cNvPr id="10" name="ZoneTexte 9"/>
          <p:cNvSpPr txBox="1"/>
          <p:nvPr/>
        </p:nvSpPr>
        <p:spPr>
          <a:xfrm>
            <a:off x="269297" y="4683340"/>
            <a:ext cx="731290" cy="307777"/>
          </a:xfrm>
          <a:prstGeom prst="rect">
            <a:avLst/>
          </a:prstGeom>
          <a:noFill/>
        </p:spPr>
        <p:txBody>
          <a:bodyPr wrap="none" rtlCol="0">
            <a:spAutoFit/>
          </a:bodyPr>
          <a:lstStyle/>
          <a:p>
            <a:r>
              <a:rPr lang="fr-FR" dirty="0">
                <a:latin typeface="Footlight MT Light" panose="0204060206030A020304" pitchFamily="18" charset="0"/>
              </a:rPr>
              <a:t>SMI-S6</a:t>
            </a:r>
          </a:p>
        </p:txBody>
      </p:sp>
    </p:spTree>
    <p:extLst>
      <p:ext uri="{BB962C8B-B14F-4D97-AF65-F5344CB8AC3E}">
        <p14:creationId xmlns:p14="http://schemas.microsoft.com/office/powerpoint/2010/main" val="2503148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720000" y="0"/>
            <a:ext cx="7704000" cy="1717773"/>
          </a:xfrm>
          <a:prstGeom prst="rect">
            <a:avLst/>
          </a:prstGeom>
        </p:spPr>
        <p:txBody>
          <a:bodyPr spcFirstLastPara="1" wrap="square" lIns="91425" tIns="91425" rIns="91425" bIns="91425" anchor="t" anchorCtr="0">
            <a:noAutofit/>
          </a:bodyPr>
          <a:lstStyle/>
          <a:p>
            <a:pPr lvl="0" algn="ctr">
              <a:lnSpc>
                <a:spcPct val="200000"/>
              </a:lnSpc>
            </a:pPr>
            <a:r>
              <a:rPr lang="fr-FR" sz="3600" dirty="0">
                <a:latin typeface="Inter" panose="020B0604020202020204" charset="0"/>
                <a:ea typeface="Inter" panose="020B0604020202020204" charset="0"/>
                <a:cs typeface="Inter"/>
                <a:sym typeface="Inter"/>
              </a:rPr>
              <a:t>3. Implémentation</a:t>
            </a:r>
          </a:p>
        </p:txBody>
      </p:sp>
      <mc:AlternateContent xmlns:mc="http://schemas.openxmlformats.org/markup-compatibility/2006" xmlns:a14="http://schemas.microsoft.com/office/drawing/2010/main">
        <mc:Choice Requires="a14">
          <p:sp>
            <p:nvSpPr>
              <p:cNvPr id="271" name="Google Shape;271;p33"/>
              <p:cNvSpPr txBox="1">
                <a:spLocks noGrp="1"/>
              </p:cNvSpPr>
              <p:nvPr>
                <p:ph type="subTitle" idx="1"/>
              </p:nvPr>
            </p:nvSpPr>
            <p:spPr>
              <a:xfrm>
                <a:off x="485340" y="1717774"/>
                <a:ext cx="5175232" cy="2890726"/>
              </a:xfrm>
              <a:prstGeom prst="rect">
                <a:avLst/>
              </a:prstGeom>
            </p:spPr>
            <p:txBody>
              <a:bodyPr spcFirstLastPara="1" wrap="square" lIns="91425" tIns="91425" rIns="91425" bIns="91425" anchor="t" anchorCtr="0">
                <a:noAutofit/>
              </a:bodyPr>
              <a:lstStyle/>
              <a:p>
                <a:pPr marL="0" indent="0" algn="just">
                  <a:lnSpc>
                    <a:spcPct val="200000"/>
                  </a:lnSpc>
                </a:pPr>
                <a:r>
                  <a:rPr lang="fr-FR" b="1" dirty="0">
                    <a:latin typeface="Comic Sans MS" panose="030F0702030302020204" pitchFamily="66" charset="0"/>
                  </a:rPr>
                  <a:t>La fonction d’erreur : </a:t>
                </a:r>
                <a:r>
                  <a:rPr lang="fr-FR" b="1" dirty="0" err="1">
                    <a:latin typeface="Comic Sans MS" panose="030F0702030302020204" pitchFamily="66" charset="0"/>
                  </a:rPr>
                  <a:t>Catgorical</a:t>
                </a:r>
                <a:r>
                  <a:rPr lang="fr-FR" b="1" dirty="0">
                    <a:latin typeface="Comic Sans MS" panose="030F0702030302020204" pitchFamily="66" charset="0"/>
                  </a:rPr>
                  <a:t> Cross-</a:t>
                </a:r>
                <a:r>
                  <a:rPr lang="fr-FR" b="1" dirty="0" err="1">
                    <a:latin typeface="Comic Sans MS" panose="030F0702030302020204" pitchFamily="66" charset="0"/>
                  </a:rPr>
                  <a:t>Entropy</a:t>
                </a:r>
                <a:endParaRPr lang="fr-FR" b="1" dirty="0">
                  <a:latin typeface="Comic Sans MS" panose="030F0702030302020204" pitchFamily="66" charset="0"/>
                </a:endParaRPr>
              </a:p>
              <a:p>
                <a:pPr marL="0" indent="0" algn="just">
                  <a:lnSpc>
                    <a:spcPct val="200000"/>
                  </a:lnSpc>
                </a:pPr>
                <a:r>
                  <a:rPr lang="fr-FR" dirty="0">
                    <a:latin typeface="Comic Sans MS" panose="030F0702030302020204" pitchFamily="66" charset="0"/>
                  </a:rPr>
                  <a:t>La fonction d'erreur utilisée est la Cross-</a:t>
                </a:r>
                <a:r>
                  <a:rPr lang="fr-FR" dirty="0" err="1">
                    <a:latin typeface="Comic Sans MS" panose="030F0702030302020204" pitchFamily="66" charset="0"/>
                  </a:rPr>
                  <a:t>Entropy</a:t>
                </a:r>
                <a:r>
                  <a:rPr lang="fr-FR" dirty="0">
                    <a:latin typeface="Comic Sans MS" panose="030F0702030302020204" pitchFamily="66" charset="0"/>
                  </a:rPr>
                  <a:t> </a:t>
                </a:r>
                <a:r>
                  <a:rPr lang="fr-FR" dirty="0" err="1">
                    <a:latin typeface="Comic Sans MS" panose="030F0702030302020204" pitchFamily="66" charset="0"/>
                  </a:rPr>
                  <a:t>Categorique</a:t>
                </a:r>
                <a:r>
                  <a:rPr lang="fr-FR" dirty="0">
                    <a:latin typeface="Comic Sans MS" panose="030F0702030302020204" pitchFamily="66" charset="0"/>
                  </a:rPr>
                  <a:t>. Elle est appliquée dans les problèmes de classification multiple pour évaluer l'erreur associée à chaque classe. Sa relation est la suivante:</a:t>
                </a:r>
              </a:p>
              <a:p>
                <a:pPr marL="0" indent="0" algn="just">
                  <a:lnSpc>
                    <a:spcPct val="200000"/>
                  </a:lnSpc>
                </a:pPr>
                <a:r>
                  <a:rPr lang="fr-FR" dirty="0">
                    <a:latin typeface="Comic Sans MS" panose="030F0702030302020204" pitchFamily="66" charset="0"/>
                  </a:rPr>
                  <a:t>Avec : 	C     : Le nombre de classe.</a:t>
                </a:r>
              </a:p>
              <a:p>
                <a:pPr marL="0" indent="0" algn="just">
                  <a:lnSpc>
                    <a:spcPct val="200000"/>
                  </a:lnSpc>
                </a:pPr>
                <a:r>
                  <a:rPr lang="fr-FR" dirty="0">
                    <a:latin typeface="Comic Sans MS" panose="030F0702030302020204" pitchFamily="66" charset="0"/>
                  </a:rPr>
                  <a:t>	</a:t>
                </a:r>
                <a14:m>
                  <m:oMath xmlns:m="http://schemas.openxmlformats.org/officeDocument/2006/math">
                    <m:sSub>
                      <m:sSubPr>
                        <m:ctrlPr>
                          <a:rPr lang="fr-FR" i="1">
                            <a:latin typeface="Cambria Math" panose="02040503050406030204" pitchFamily="18" charset="0"/>
                          </a:rPr>
                        </m:ctrlPr>
                      </m:sSubPr>
                      <m:e>
                        <m:r>
                          <m:rPr>
                            <m:sty m:val="p"/>
                          </m:rPr>
                          <a:rPr lang="en-US" b="0" i="0" smtClean="0">
                            <a:latin typeface="Cambria Math" panose="02040503050406030204" pitchFamily="18" charset="0"/>
                          </a:rPr>
                          <m:t>f</m:t>
                        </m:r>
                        <m:r>
                          <a:rPr lang="en-US" b="0" i="0" smtClean="0">
                            <a:latin typeface="Cambria Math" panose="02040503050406030204" pitchFamily="18" charset="0"/>
                          </a:rPr>
                          <m:t>(</m:t>
                        </m:r>
                        <m:r>
                          <m:rPr>
                            <m:sty m:val="p"/>
                          </m:rPr>
                          <a:rPr lang="en-US" b="0" i="0" smtClean="0">
                            <a:latin typeface="Cambria Math" panose="02040503050406030204" pitchFamily="18" charset="0"/>
                          </a:rPr>
                          <m:t>s</m:t>
                        </m:r>
                        <m:r>
                          <a:rPr lang="en-US" b="0" i="0" smtClean="0">
                            <a:latin typeface="Cambria Math" panose="02040503050406030204" pitchFamily="18" charset="0"/>
                          </a:rPr>
                          <m:t>)</m:t>
                        </m:r>
                      </m:e>
                      <m:sub>
                        <m:r>
                          <m:rPr>
                            <m:sty m:val="p"/>
                          </m:rPr>
                          <a:rPr lang="en-US" b="0" i="0" smtClean="0">
                            <a:latin typeface="Cambria Math" panose="02040503050406030204" pitchFamily="18" charset="0"/>
                            <a:ea typeface="Cambria Math" panose="02040503050406030204" pitchFamily="18" charset="0"/>
                          </a:rPr>
                          <m:t>i</m:t>
                        </m:r>
                      </m:sub>
                    </m:sSub>
                  </m:oMath>
                </a14:m>
                <a:r>
                  <a:rPr lang="fr-FR" dirty="0">
                    <a:latin typeface="Comic Sans MS" panose="030F0702030302020204" pitchFamily="66" charset="0"/>
                  </a:rPr>
                  <a:t> : La sortie de </a:t>
                </a:r>
                <a:r>
                  <a:rPr lang="fr-FR" dirty="0" err="1">
                    <a:latin typeface="Comic Sans MS" panose="030F0702030302020204" pitchFamily="66" charset="0"/>
                  </a:rPr>
                  <a:t>softmax</a:t>
                </a:r>
                <a:r>
                  <a:rPr lang="fr-FR" dirty="0">
                    <a:latin typeface="Comic Sans MS" panose="030F0702030302020204" pitchFamily="66" charset="0"/>
                  </a:rPr>
                  <a:t>.</a:t>
                </a:r>
              </a:p>
              <a:p>
                <a:pPr marL="0" indent="0" algn="just">
                  <a:lnSpc>
                    <a:spcPct val="200000"/>
                  </a:lnSpc>
                </a:pPr>
                <a:r>
                  <a:rPr lang="fr-FR" dirty="0">
                    <a:latin typeface="Comic Sans MS" panose="030F0702030302020204" pitchFamily="66" charset="0"/>
                  </a:rPr>
                  <a:t>	</a:t>
                </a:r>
                <a14:m>
                  <m:oMath xmlns:m="http://schemas.openxmlformats.org/officeDocument/2006/math">
                    <m:sSub>
                      <m:sSubPr>
                        <m:ctrlPr>
                          <a:rPr lang="fr-FR" sz="1400" i="1">
                            <a:latin typeface="Cambria Math" panose="02040503050406030204" pitchFamily="18" charset="0"/>
                          </a:rPr>
                        </m:ctrlPr>
                      </m:sSubPr>
                      <m:e>
                        <m:r>
                          <m:rPr>
                            <m:sty m:val="p"/>
                          </m:rPr>
                          <a:rPr lang="en-US" sz="1400" b="0" i="0" smtClean="0">
                            <a:latin typeface="Cambria Math" panose="02040503050406030204" pitchFamily="18" charset="0"/>
                          </a:rPr>
                          <m:t>t</m:t>
                        </m:r>
                      </m:e>
                      <m:sub>
                        <m:r>
                          <m:rPr>
                            <m:sty m:val="p"/>
                          </m:rPr>
                          <a:rPr lang="en-US" sz="1400" b="0" i="0" smtClean="0">
                            <a:latin typeface="Cambria Math" panose="02040503050406030204" pitchFamily="18" charset="0"/>
                            <a:ea typeface="Cambria Math" panose="02040503050406030204" pitchFamily="18" charset="0"/>
                          </a:rPr>
                          <m:t>i</m:t>
                        </m:r>
                      </m:sub>
                    </m:sSub>
                  </m:oMath>
                </a14:m>
                <a:r>
                  <a:rPr lang="fr-FR" dirty="0">
                    <a:latin typeface="Comic Sans MS" panose="030F0702030302020204" pitchFamily="66" charset="0"/>
                  </a:rPr>
                  <a:t>     :  La vraie valeur </a:t>
                </a:r>
              </a:p>
            </p:txBody>
          </p:sp>
        </mc:Choice>
        <mc:Fallback xmlns="">
          <p:sp>
            <p:nvSpPr>
              <p:cNvPr id="271" name="Google Shape;271;p33"/>
              <p:cNvSpPr txBox="1">
                <a:spLocks noGrp="1" noRot="1" noChangeAspect="1" noMove="1" noResize="1" noEditPoints="1" noAdjustHandles="1" noChangeArrowheads="1" noChangeShapeType="1" noTextEdit="1"/>
              </p:cNvSpPr>
              <p:nvPr>
                <p:ph type="subTitle" idx="1"/>
              </p:nvPr>
            </p:nvSpPr>
            <p:spPr>
              <a:xfrm>
                <a:off x="485340" y="1717774"/>
                <a:ext cx="5175232" cy="2890726"/>
              </a:xfrm>
              <a:prstGeom prst="rect">
                <a:avLst/>
              </a:prstGeom>
              <a:blipFill rotWithShape="0">
                <a:blip r:embed="rId3"/>
                <a:stretch>
                  <a:fillRect l="-118"/>
                </a:stretch>
              </a:blipFill>
            </p:spPr>
            <p:txBody>
              <a:bodyPr/>
              <a:lstStyle/>
              <a:p>
                <a:r>
                  <a:rPr lang="fr-FR">
                    <a:noFill/>
                  </a:rPr>
                  <a:t> </a:t>
                </a:r>
              </a:p>
            </p:txBody>
          </p:sp>
        </mc:Fallback>
      </mc:AlternateContent>
      <p:sp>
        <p:nvSpPr>
          <p:cNvPr id="275" name="Google Shape;275;p33"/>
          <p:cNvSpPr txBox="1">
            <a:spLocks noGrp="1"/>
          </p:cNvSpPr>
          <p:nvPr>
            <p:ph type="subTitle" idx="7"/>
          </p:nvPr>
        </p:nvSpPr>
        <p:spPr>
          <a:xfrm>
            <a:off x="485339" y="1320068"/>
            <a:ext cx="8321204" cy="377100"/>
          </a:xfrm>
          <a:prstGeom prst="rect">
            <a:avLst/>
          </a:prstGeom>
        </p:spPr>
        <p:txBody>
          <a:bodyPr spcFirstLastPara="1" wrap="square" lIns="91425" tIns="91425" rIns="91425" bIns="91425" anchor="b" anchorCtr="0">
            <a:noAutofit/>
          </a:bodyPr>
          <a:lstStyle/>
          <a:p>
            <a:pPr lvl="0" algn="l"/>
            <a:r>
              <a:rPr lang="fr-FR" dirty="0">
                <a:latin typeface="Inter"/>
                <a:ea typeface="Inter"/>
                <a:cs typeface="Inter"/>
                <a:sym typeface="Inter"/>
              </a:rPr>
              <a:t>3.2. Description du modèle</a:t>
            </a:r>
          </a:p>
        </p:txBody>
      </p:sp>
      <p:cxnSp>
        <p:nvCxnSpPr>
          <p:cNvPr id="283" name="Google Shape;283;p33"/>
          <p:cNvCxnSpPr/>
          <p:nvPr/>
        </p:nvCxnSpPr>
        <p:spPr>
          <a:xfrm>
            <a:off x="1950" y="44702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4" name="Google Shape;284;p33"/>
          <p:cNvCxnSpPr/>
          <p:nvPr/>
        </p:nvCxnSpPr>
        <p:spPr>
          <a:xfrm>
            <a:off x="1950" y="114707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5" name="Google Shape;285;p33"/>
          <p:cNvCxnSpPr/>
          <p:nvPr/>
        </p:nvCxnSpPr>
        <p:spPr>
          <a:xfrm>
            <a:off x="1950" y="4608500"/>
            <a:ext cx="9139800" cy="0"/>
          </a:xfrm>
          <a:prstGeom prst="straightConnector1">
            <a:avLst/>
          </a:prstGeom>
          <a:noFill/>
          <a:ln w="9525" cap="flat" cmpd="sng">
            <a:solidFill>
              <a:schemeClr val="dk1"/>
            </a:solidFill>
            <a:prstDash val="solid"/>
            <a:round/>
            <a:headEnd type="none" w="med" len="med"/>
            <a:tailEnd type="none" w="med" len="med"/>
          </a:ln>
        </p:spPr>
      </p:cxnSp>
      <p:pic>
        <p:nvPicPr>
          <p:cNvPr id="8" name="Image 7"/>
          <p:cNvPicPr>
            <a:picLocks noChangeAspect="1"/>
          </p:cNvPicPr>
          <p:nvPr/>
        </p:nvPicPr>
        <p:blipFill rotWithShape="1">
          <a:blip r:embed="rId4">
            <a:duotone>
              <a:prstClr val="black"/>
              <a:srgbClr val="E0D9F3">
                <a:tint val="45000"/>
                <a:satMod val="400000"/>
              </a:srgbClr>
            </a:duotone>
            <a:extLst>
              <a:ext uri="{28A0092B-C50C-407E-A947-70E740481C1C}">
                <a14:useLocalDpi xmlns:a14="http://schemas.microsoft.com/office/drawing/2010/main" val="0"/>
              </a:ext>
            </a:extLst>
          </a:blip>
          <a:srcRect l="50376" t="49934" b="6286"/>
          <a:stretch/>
        </p:blipFill>
        <p:spPr>
          <a:xfrm>
            <a:off x="5660572" y="2166257"/>
            <a:ext cx="3233057" cy="1273629"/>
          </a:xfrm>
          <a:prstGeom prst="rect">
            <a:avLst/>
          </a:prstGeom>
          <a:ln>
            <a:noFill/>
          </a:ln>
          <a:effectLst>
            <a:outerShdw blurRad="292100" dist="139700" dir="2700000" algn="tl" rotWithShape="0">
              <a:srgbClr val="333333">
                <a:alpha val="65000"/>
              </a:srgbClr>
            </a:outerShdw>
          </a:effectLst>
        </p:spPr>
      </p:pic>
      <p:sp>
        <p:nvSpPr>
          <p:cNvPr id="2" name="TextBox 1">
            <a:extLst>
              <a:ext uri="{FF2B5EF4-FFF2-40B4-BE49-F238E27FC236}">
                <a16:creationId xmlns:a16="http://schemas.microsoft.com/office/drawing/2014/main" id="{D188FC49-D66E-4A4C-2490-E1B07133A5C6}"/>
              </a:ext>
            </a:extLst>
          </p:cNvPr>
          <p:cNvSpPr txBox="1"/>
          <p:nvPr/>
        </p:nvSpPr>
        <p:spPr>
          <a:xfrm>
            <a:off x="8483109" y="4683340"/>
            <a:ext cx="660891" cy="307777"/>
          </a:xfrm>
          <a:prstGeom prst="rect">
            <a:avLst/>
          </a:prstGeom>
          <a:noFill/>
        </p:spPr>
        <p:txBody>
          <a:bodyPr wrap="square" rtlCol="0">
            <a:spAutoFit/>
          </a:bodyPr>
          <a:lstStyle/>
          <a:p>
            <a:r>
              <a:rPr lang="fr-FR" dirty="0"/>
              <a:t>16</a:t>
            </a:r>
            <a:endParaRPr lang="fr-CH" dirty="0"/>
          </a:p>
        </p:txBody>
      </p:sp>
      <p:sp>
        <p:nvSpPr>
          <p:cNvPr id="10" name="ZoneTexte 9"/>
          <p:cNvSpPr txBox="1"/>
          <p:nvPr/>
        </p:nvSpPr>
        <p:spPr>
          <a:xfrm>
            <a:off x="3179702" y="4683340"/>
            <a:ext cx="2784296" cy="307777"/>
          </a:xfrm>
          <a:prstGeom prst="rect">
            <a:avLst/>
          </a:prstGeom>
          <a:noFill/>
        </p:spPr>
        <p:txBody>
          <a:bodyPr wrap="square" rtlCol="0">
            <a:spAutoFit/>
          </a:bodyPr>
          <a:lstStyle/>
          <a:p>
            <a:pPr algn="ctr"/>
            <a:r>
              <a:rPr lang="fr-FR" dirty="0">
                <a:latin typeface="Footlight MT Light" panose="0204060206030A020304" pitchFamily="18" charset="0"/>
              </a:rPr>
              <a:t>PFE: Détection des émotions</a:t>
            </a:r>
          </a:p>
        </p:txBody>
      </p:sp>
      <p:sp>
        <p:nvSpPr>
          <p:cNvPr id="11" name="ZoneTexte 10"/>
          <p:cNvSpPr txBox="1"/>
          <p:nvPr/>
        </p:nvSpPr>
        <p:spPr>
          <a:xfrm>
            <a:off x="269297" y="4683340"/>
            <a:ext cx="731290" cy="307777"/>
          </a:xfrm>
          <a:prstGeom prst="rect">
            <a:avLst/>
          </a:prstGeom>
          <a:noFill/>
        </p:spPr>
        <p:txBody>
          <a:bodyPr wrap="none" rtlCol="0">
            <a:spAutoFit/>
          </a:bodyPr>
          <a:lstStyle/>
          <a:p>
            <a:r>
              <a:rPr lang="fr-FR" dirty="0">
                <a:latin typeface="Footlight MT Light" panose="0204060206030A020304" pitchFamily="18" charset="0"/>
              </a:rPr>
              <a:t>SMI-S6</a:t>
            </a:r>
          </a:p>
        </p:txBody>
      </p:sp>
    </p:spTree>
    <p:extLst>
      <p:ext uri="{BB962C8B-B14F-4D97-AF65-F5344CB8AC3E}">
        <p14:creationId xmlns:p14="http://schemas.microsoft.com/office/powerpoint/2010/main" val="22226648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2"/>
          <p:cNvSpPr txBox="1">
            <a:spLocks noGrp="1"/>
          </p:cNvSpPr>
          <p:nvPr>
            <p:ph type="subTitle" idx="2"/>
          </p:nvPr>
        </p:nvSpPr>
        <p:spPr>
          <a:xfrm>
            <a:off x="1504025" y="1922471"/>
            <a:ext cx="2880000" cy="1027800"/>
          </a:xfrm>
          <a:prstGeom prst="rect">
            <a:avLst/>
          </a:prstGeom>
        </p:spPr>
        <p:txBody>
          <a:bodyPr spcFirstLastPara="1" wrap="square" lIns="91425" tIns="91425" rIns="91425" bIns="91425" anchor="t" anchorCtr="0">
            <a:noAutofit/>
          </a:bodyPr>
          <a:lstStyle/>
          <a:p>
            <a:pPr marL="0" lvl="0" indent="0"/>
            <a:r>
              <a:rPr lang="fr-FR" dirty="0">
                <a:latin typeface="Comic Sans MS" panose="030F0702030302020204" pitchFamily="66" charset="0"/>
              </a:rPr>
              <a:t>Anaconda est une distribution gratuite et open-source des langages de programmation Python</a:t>
            </a:r>
          </a:p>
          <a:p>
            <a:pPr marL="0" lvl="0" indent="0"/>
            <a:r>
              <a:rPr lang="fr-FR" dirty="0">
                <a:latin typeface="Comic Sans MS" panose="030F0702030302020204" pitchFamily="66" charset="0"/>
              </a:rPr>
              <a:t>et R dédiée au calcul scientifique.</a:t>
            </a:r>
            <a:endParaRPr dirty="0">
              <a:latin typeface="Comic Sans MS" panose="030F0702030302020204" pitchFamily="66" charset="0"/>
            </a:endParaRPr>
          </a:p>
        </p:txBody>
      </p:sp>
      <p:sp>
        <p:nvSpPr>
          <p:cNvPr id="242" name="Google Shape;242;p32"/>
          <p:cNvSpPr txBox="1">
            <a:spLocks noGrp="1"/>
          </p:cNvSpPr>
          <p:nvPr>
            <p:ph type="subTitle" idx="3"/>
          </p:nvPr>
        </p:nvSpPr>
        <p:spPr>
          <a:xfrm>
            <a:off x="5558580" y="1920554"/>
            <a:ext cx="2880000" cy="1027800"/>
          </a:xfrm>
          <a:prstGeom prst="rect">
            <a:avLst/>
          </a:prstGeom>
        </p:spPr>
        <p:txBody>
          <a:bodyPr spcFirstLastPara="1" wrap="square" lIns="91425" tIns="91425" rIns="91425" bIns="91425" anchor="t" anchorCtr="0">
            <a:noAutofit/>
          </a:bodyPr>
          <a:lstStyle/>
          <a:p>
            <a:pPr marL="0" lvl="0" indent="0"/>
            <a:r>
              <a:rPr lang="fr-FR" dirty="0">
                <a:latin typeface="Comic Sans MS" panose="030F0702030302020204" pitchFamily="66" charset="0"/>
              </a:rPr>
              <a:t>Python est un langage de programmation puissant</a:t>
            </a:r>
            <a:r>
              <a:rPr lang="en-US" dirty="0">
                <a:latin typeface="Comic Sans MS" panose="030F0702030302020204" pitchFamily="66" charset="0"/>
              </a:rPr>
              <a:t>, </a:t>
            </a:r>
            <a:r>
              <a:rPr lang="en-US" dirty="0" err="1">
                <a:latin typeface="Comic Sans MS" panose="030F0702030302020204" pitchFamily="66" charset="0"/>
              </a:rPr>
              <a:t>est</a:t>
            </a:r>
            <a:r>
              <a:rPr lang="en-US" dirty="0">
                <a:latin typeface="Comic Sans MS" panose="030F0702030302020204" pitchFamily="66" charset="0"/>
              </a:rPr>
              <a:t> </a:t>
            </a:r>
            <a:r>
              <a:rPr lang="en-US" dirty="0" err="1">
                <a:latin typeface="Comic Sans MS" panose="030F0702030302020204" pitchFamily="66" charset="0"/>
              </a:rPr>
              <a:t>utilisée</a:t>
            </a:r>
            <a:r>
              <a:rPr lang="en-US" dirty="0">
                <a:latin typeface="Comic Sans MS" panose="030F0702030302020204" pitchFamily="66" charset="0"/>
              </a:rPr>
              <a:t> </a:t>
            </a:r>
            <a:r>
              <a:rPr lang="en-US" dirty="0" err="1">
                <a:latin typeface="Comic Sans MS" panose="030F0702030302020204" pitchFamily="66" charset="0"/>
              </a:rPr>
              <a:t>dans</a:t>
            </a:r>
            <a:r>
              <a:rPr lang="en-US" dirty="0">
                <a:latin typeface="Comic Sans MS" panose="030F0702030302020204" pitchFamily="66" charset="0"/>
              </a:rPr>
              <a:t> </a:t>
            </a:r>
            <a:r>
              <a:rPr lang="fr-FR" dirty="0">
                <a:latin typeface="Comic Sans MS" panose="030F0702030302020204" pitchFamily="66" charset="0"/>
              </a:rPr>
              <a:t> l’analyse de données et l’apprentissage automatique.</a:t>
            </a:r>
            <a:endParaRPr dirty="0">
              <a:latin typeface="Comic Sans MS" panose="030F0702030302020204" pitchFamily="66" charset="0"/>
            </a:endParaRPr>
          </a:p>
        </p:txBody>
      </p:sp>
      <p:sp>
        <p:nvSpPr>
          <p:cNvPr id="243" name="Google Shape;243;p32"/>
          <p:cNvSpPr txBox="1">
            <a:spLocks noGrp="1"/>
          </p:cNvSpPr>
          <p:nvPr>
            <p:ph type="subTitle" idx="4"/>
          </p:nvPr>
        </p:nvSpPr>
        <p:spPr>
          <a:xfrm>
            <a:off x="1494380" y="3564413"/>
            <a:ext cx="2880000" cy="1027800"/>
          </a:xfrm>
          <a:prstGeom prst="rect">
            <a:avLst/>
          </a:prstGeom>
        </p:spPr>
        <p:txBody>
          <a:bodyPr spcFirstLastPara="1" wrap="square" lIns="91425" tIns="91425" rIns="91425" bIns="91425" anchor="t" anchorCtr="0">
            <a:noAutofit/>
          </a:bodyPr>
          <a:lstStyle/>
          <a:p>
            <a:pPr marL="0" lvl="0" indent="0"/>
            <a:r>
              <a:rPr lang="fr-FR" dirty="0" err="1">
                <a:latin typeface="Comic Sans MS" panose="030F0702030302020204" pitchFamily="66" charset="0"/>
              </a:rPr>
              <a:t>TensorFlow</a:t>
            </a:r>
            <a:r>
              <a:rPr lang="fr-FR" dirty="0">
                <a:latin typeface="Comic Sans MS" panose="030F0702030302020204" pitchFamily="66" charset="0"/>
              </a:rPr>
              <a:t> est un </a:t>
            </a:r>
            <a:r>
              <a:rPr lang="fr-FR" dirty="0" err="1">
                <a:latin typeface="Comic Sans MS" panose="030F0702030302020204" pitchFamily="66" charset="0"/>
              </a:rPr>
              <a:t>framework</a:t>
            </a:r>
            <a:r>
              <a:rPr lang="fr-FR" dirty="0">
                <a:latin typeface="Comic Sans MS" panose="030F0702030302020204" pitchFamily="66" charset="0"/>
              </a:rPr>
              <a:t> open-source pour l’apprentissage automatique développé par</a:t>
            </a:r>
          </a:p>
          <a:p>
            <a:pPr marL="0" lvl="0" indent="0"/>
            <a:r>
              <a:rPr lang="fr-FR" dirty="0">
                <a:latin typeface="Comic Sans MS" panose="030F0702030302020204" pitchFamily="66" charset="0"/>
              </a:rPr>
              <a:t>l’équipe Google </a:t>
            </a:r>
            <a:r>
              <a:rPr lang="fr-FR" dirty="0" err="1">
                <a:latin typeface="Comic Sans MS" panose="030F0702030302020204" pitchFamily="66" charset="0"/>
              </a:rPr>
              <a:t>Brain</a:t>
            </a:r>
            <a:r>
              <a:rPr lang="fr-FR" dirty="0">
                <a:latin typeface="Comic Sans MS" panose="030F0702030302020204" pitchFamily="66" charset="0"/>
              </a:rPr>
              <a:t>.</a:t>
            </a:r>
            <a:endParaRPr dirty="0">
              <a:latin typeface="Comic Sans MS" panose="030F0702030302020204" pitchFamily="66" charset="0"/>
            </a:endParaRPr>
          </a:p>
        </p:txBody>
      </p:sp>
      <p:sp>
        <p:nvSpPr>
          <p:cNvPr id="244" name="Google Shape;244;p32"/>
          <p:cNvSpPr txBox="1">
            <a:spLocks noGrp="1"/>
          </p:cNvSpPr>
          <p:nvPr>
            <p:ph type="subTitle" idx="5"/>
          </p:nvPr>
        </p:nvSpPr>
        <p:spPr>
          <a:xfrm>
            <a:off x="5558580" y="3573181"/>
            <a:ext cx="2880000" cy="1027800"/>
          </a:xfrm>
          <a:prstGeom prst="rect">
            <a:avLst/>
          </a:prstGeom>
        </p:spPr>
        <p:txBody>
          <a:bodyPr spcFirstLastPara="1" wrap="square" lIns="91425" tIns="91425" rIns="91425" bIns="91425" anchor="t" anchorCtr="0">
            <a:noAutofit/>
          </a:bodyPr>
          <a:lstStyle/>
          <a:p>
            <a:pPr marL="0" lvl="0" indent="0"/>
            <a:r>
              <a:rPr lang="fr-FR" dirty="0" err="1">
                <a:latin typeface="Comic Sans MS" panose="030F0702030302020204" pitchFamily="66" charset="0"/>
              </a:rPr>
              <a:t>Keras</a:t>
            </a:r>
            <a:r>
              <a:rPr lang="fr-FR" dirty="0">
                <a:latin typeface="Comic Sans MS" panose="030F0702030302020204" pitchFamily="66" charset="0"/>
              </a:rPr>
              <a:t> est une puissante bibliothèque d’apprentissage profond conviviale qui s’exécute sur </a:t>
            </a:r>
            <a:r>
              <a:rPr lang="fr-FR" dirty="0" err="1">
                <a:latin typeface="Comic Sans MS" panose="030F0702030302020204" pitchFamily="66" charset="0"/>
              </a:rPr>
              <a:t>TensorFlow</a:t>
            </a:r>
            <a:r>
              <a:rPr lang="en-US" dirty="0">
                <a:latin typeface="Comic Sans MS" panose="030F0702030302020204" pitchFamily="66" charset="0"/>
              </a:rPr>
              <a:t>.</a:t>
            </a:r>
            <a:endParaRPr dirty="0">
              <a:latin typeface="Comic Sans MS" panose="030F0702030302020204" pitchFamily="66" charset="0"/>
            </a:endParaRPr>
          </a:p>
        </p:txBody>
      </p:sp>
      <p:sp>
        <p:nvSpPr>
          <p:cNvPr id="246" name="Google Shape;246;p32"/>
          <p:cNvSpPr txBox="1">
            <a:spLocks noGrp="1"/>
          </p:cNvSpPr>
          <p:nvPr>
            <p:ph type="subTitle" idx="1"/>
          </p:nvPr>
        </p:nvSpPr>
        <p:spPr>
          <a:xfrm>
            <a:off x="1504025" y="1594335"/>
            <a:ext cx="2880000" cy="525900"/>
          </a:xfrm>
          <a:prstGeom prst="rect">
            <a:avLst/>
          </a:prstGeom>
        </p:spPr>
        <p:txBody>
          <a:bodyPr spcFirstLastPara="1" wrap="square" lIns="91425" tIns="91425" rIns="91425" bIns="91425" anchor="b" anchorCtr="0">
            <a:noAutofit/>
          </a:bodyPr>
          <a:lstStyle/>
          <a:p>
            <a:pPr marL="0" lvl="0" indent="0"/>
            <a:r>
              <a:rPr lang="en-US" dirty="0"/>
              <a:t>Anaconda</a:t>
            </a:r>
            <a:endParaRPr dirty="0"/>
          </a:p>
        </p:txBody>
      </p:sp>
      <p:sp>
        <p:nvSpPr>
          <p:cNvPr id="247" name="Google Shape;247;p32"/>
          <p:cNvSpPr txBox="1">
            <a:spLocks noGrp="1"/>
          </p:cNvSpPr>
          <p:nvPr>
            <p:ph type="subTitle" idx="6"/>
          </p:nvPr>
        </p:nvSpPr>
        <p:spPr>
          <a:xfrm>
            <a:off x="1504025" y="3177854"/>
            <a:ext cx="2880000" cy="525900"/>
          </a:xfrm>
          <a:prstGeom prst="rect">
            <a:avLst/>
          </a:prstGeom>
        </p:spPr>
        <p:txBody>
          <a:bodyPr spcFirstLastPara="1" wrap="square" lIns="91425" tIns="91425" rIns="91425" bIns="91425" anchor="b" anchorCtr="0">
            <a:noAutofit/>
          </a:bodyPr>
          <a:lstStyle/>
          <a:p>
            <a:pPr marL="0" lvl="0" indent="0"/>
            <a:r>
              <a:rPr lang="en-US" dirty="0" err="1"/>
              <a:t>Tensorflow</a:t>
            </a:r>
            <a:endParaRPr dirty="0"/>
          </a:p>
        </p:txBody>
      </p:sp>
      <p:sp>
        <p:nvSpPr>
          <p:cNvPr id="248" name="Google Shape;248;p32"/>
          <p:cNvSpPr txBox="1">
            <a:spLocks noGrp="1"/>
          </p:cNvSpPr>
          <p:nvPr>
            <p:ph type="subTitle" idx="7"/>
          </p:nvPr>
        </p:nvSpPr>
        <p:spPr>
          <a:xfrm>
            <a:off x="5558580" y="1547898"/>
            <a:ext cx="2880000" cy="525900"/>
          </a:xfrm>
          <a:prstGeom prst="rect">
            <a:avLst/>
          </a:prstGeom>
        </p:spPr>
        <p:txBody>
          <a:bodyPr spcFirstLastPara="1" wrap="square" lIns="91425" tIns="91425" rIns="91425" bIns="91425" anchor="b" anchorCtr="0">
            <a:noAutofit/>
          </a:bodyPr>
          <a:lstStyle/>
          <a:p>
            <a:pPr marL="0" lvl="0" indent="0"/>
            <a:r>
              <a:rPr lang="en-US" dirty="0"/>
              <a:t>Python</a:t>
            </a:r>
            <a:endParaRPr dirty="0"/>
          </a:p>
        </p:txBody>
      </p:sp>
      <p:sp>
        <p:nvSpPr>
          <p:cNvPr id="249" name="Google Shape;249;p32"/>
          <p:cNvSpPr txBox="1">
            <a:spLocks noGrp="1"/>
          </p:cNvSpPr>
          <p:nvPr>
            <p:ph type="subTitle" idx="8"/>
          </p:nvPr>
        </p:nvSpPr>
        <p:spPr>
          <a:xfrm>
            <a:off x="5558580" y="3134504"/>
            <a:ext cx="2880000" cy="525900"/>
          </a:xfrm>
          <a:prstGeom prst="rect">
            <a:avLst/>
          </a:prstGeom>
        </p:spPr>
        <p:txBody>
          <a:bodyPr spcFirstLastPara="1" wrap="square" lIns="91425" tIns="91425" rIns="91425" bIns="91425" anchor="b" anchorCtr="0">
            <a:noAutofit/>
          </a:bodyPr>
          <a:lstStyle/>
          <a:p>
            <a:pPr marL="0" lvl="0" indent="0"/>
            <a:r>
              <a:rPr lang="en-US" dirty="0" err="1"/>
              <a:t>Keras</a:t>
            </a:r>
            <a:endParaRPr dirty="0"/>
          </a:p>
        </p:txBody>
      </p:sp>
      <p:cxnSp>
        <p:nvCxnSpPr>
          <p:cNvPr id="250" name="Google Shape;250;p32"/>
          <p:cNvCxnSpPr/>
          <p:nvPr/>
        </p:nvCxnSpPr>
        <p:spPr>
          <a:xfrm>
            <a:off x="1950" y="44702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51" name="Google Shape;251;p32"/>
          <p:cNvCxnSpPr/>
          <p:nvPr/>
        </p:nvCxnSpPr>
        <p:spPr>
          <a:xfrm>
            <a:off x="1950" y="114707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52" name="Google Shape;252;p32"/>
          <p:cNvCxnSpPr/>
          <p:nvPr/>
        </p:nvCxnSpPr>
        <p:spPr>
          <a:xfrm>
            <a:off x="1950" y="4608500"/>
            <a:ext cx="9139800" cy="0"/>
          </a:xfrm>
          <a:prstGeom prst="straightConnector1">
            <a:avLst/>
          </a:prstGeom>
          <a:noFill/>
          <a:ln w="9525" cap="flat" cmpd="sng">
            <a:solidFill>
              <a:schemeClr val="dk1"/>
            </a:solidFill>
            <a:prstDash val="solid"/>
            <a:round/>
            <a:headEnd type="none" w="med" len="med"/>
            <a:tailEnd type="none" w="med" len="med"/>
          </a:ln>
        </p:spPr>
      </p:cxnSp>
      <p:sp>
        <p:nvSpPr>
          <p:cNvPr id="253" name="Google Shape;253;p32"/>
          <p:cNvSpPr/>
          <p:nvPr/>
        </p:nvSpPr>
        <p:spPr>
          <a:xfrm>
            <a:off x="437243" y="2008472"/>
            <a:ext cx="1012763" cy="612600"/>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2"/>
          <p:cNvSpPr/>
          <p:nvPr/>
        </p:nvSpPr>
        <p:spPr>
          <a:xfrm>
            <a:off x="437243" y="3660404"/>
            <a:ext cx="1012763" cy="612600"/>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2"/>
          <p:cNvSpPr/>
          <p:nvPr/>
        </p:nvSpPr>
        <p:spPr>
          <a:xfrm>
            <a:off x="4643137" y="2009739"/>
            <a:ext cx="836893" cy="612600"/>
          </a:xfrm>
          <a:prstGeom prst="rect">
            <a:avLst/>
          </a:prstGeom>
          <a:blipFill dpi="0" rotWithShape="1">
            <a:blip r:embed="rId5">
              <a:extLst>
                <a:ext uri="{28A0092B-C50C-407E-A947-70E740481C1C}">
                  <a14:useLocalDpi xmlns:a14="http://schemas.microsoft.com/office/drawing/2010/main" val="0"/>
                </a:ext>
              </a:extLst>
            </a:blip>
            <a:srcRect/>
            <a:stretch>
              <a:fillRect/>
            </a:stretch>
          </a:blip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2"/>
          <p:cNvSpPr/>
          <p:nvPr/>
        </p:nvSpPr>
        <p:spPr>
          <a:xfrm>
            <a:off x="4643136" y="3660404"/>
            <a:ext cx="836893" cy="612600"/>
          </a:xfrm>
          <a:prstGeom prst="rect">
            <a:avLst/>
          </a:prstGeom>
          <a:blipFill dpi="0" rotWithShape="1">
            <a:blip r:embed="rId6">
              <a:extLst>
                <a:ext uri="{28A0092B-C50C-407E-A947-70E740481C1C}">
                  <a14:useLocalDpi xmlns:a14="http://schemas.microsoft.com/office/drawing/2010/main" val="0"/>
                </a:ext>
              </a:extLst>
            </a:blip>
            <a:srcRect/>
            <a:stretch>
              <a:fillRect/>
            </a:stretch>
          </a:blip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5;p33"/>
          <p:cNvSpPr txBox="1">
            <a:spLocks/>
          </p:cNvSpPr>
          <p:nvPr/>
        </p:nvSpPr>
        <p:spPr>
          <a:xfrm>
            <a:off x="496225" y="1254767"/>
            <a:ext cx="8321204" cy="3771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Bebas Neue"/>
              <a:buNone/>
              <a:defRPr sz="2300" b="0" i="0" u="none" strike="noStrike" cap="none">
                <a:solidFill>
                  <a:schemeClr val="dk1"/>
                </a:solidFill>
                <a:latin typeface="Syne"/>
                <a:ea typeface="Syne"/>
                <a:cs typeface="Syne"/>
                <a:sym typeface="Syne"/>
              </a:defRPr>
            </a:lvl1pPr>
            <a:lvl2pPr marL="914400" marR="0" lvl="1"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lvl="0"/>
            <a:r>
              <a:rPr lang="fr-FR" dirty="0">
                <a:latin typeface="Inter"/>
                <a:ea typeface="Inter"/>
                <a:cs typeface="Inter"/>
                <a:sym typeface="Inter"/>
              </a:rPr>
              <a:t>3.3. Outils utilisé</a:t>
            </a:r>
          </a:p>
        </p:txBody>
      </p:sp>
      <p:sp>
        <p:nvSpPr>
          <p:cNvPr id="30" name="Google Shape;270;p33"/>
          <p:cNvSpPr txBox="1">
            <a:spLocks noGrp="1"/>
          </p:cNvSpPr>
          <p:nvPr>
            <p:ph type="title"/>
          </p:nvPr>
        </p:nvSpPr>
        <p:spPr>
          <a:xfrm>
            <a:off x="720000" y="0"/>
            <a:ext cx="7704000" cy="1717773"/>
          </a:xfrm>
          <a:prstGeom prst="rect">
            <a:avLst/>
          </a:prstGeom>
        </p:spPr>
        <p:txBody>
          <a:bodyPr spcFirstLastPara="1" wrap="square" lIns="91425" tIns="91425" rIns="91425" bIns="91425" anchor="t" anchorCtr="0">
            <a:noAutofit/>
          </a:bodyPr>
          <a:lstStyle/>
          <a:p>
            <a:pPr lvl="0" algn="ctr">
              <a:lnSpc>
                <a:spcPct val="200000"/>
              </a:lnSpc>
            </a:pPr>
            <a:r>
              <a:rPr lang="fr-FR" sz="3600" dirty="0">
                <a:latin typeface="Inter" panose="020B0604020202020204" charset="0"/>
                <a:ea typeface="Inter" panose="020B0604020202020204" charset="0"/>
                <a:cs typeface="Inter"/>
                <a:sym typeface="Inter"/>
              </a:rPr>
              <a:t>3. Implémentation</a:t>
            </a:r>
          </a:p>
        </p:txBody>
      </p:sp>
      <p:sp>
        <p:nvSpPr>
          <p:cNvPr id="2" name="TextBox 1">
            <a:extLst>
              <a:ext uri="{FF2B5EF4-FFF2-40B4-BE49-F238E27FC236}">
                <a16:creationId xmlns:a16="http://schemas.microsoft.com/office/drawing/2014/main" id="{0D3C9099-B6A3-93A0-4A48-78AAF4817518}"/>
              </a:ext>
            </a:extLst>
          </p:cNvPr>
          <p:cNvSpPr txBox="1"/>
          <p:nvPr/>
        </p:nvSpPr>
        <p:spPr>
          <a:xfrm>
            <a:off x="8483109" y="4683340"/>
            <a:ext cx="660891" cy="307777"/>
          </a:xfrm>
          <a:prstGeom prst="rect">
            <a:avLst/>
          </a:prstGeom>
          <a:noFill/>
        </p:spPr>
        <p:txBody>
          <a:bodyPr wrap="square" rtlCol="0">
            <a:spAutoFit/>
          </a:bodyPr>
          <a:lstStyle/>
          <a:p>
            <a:r>
              <a:rPr lang="fr-FR" dirty="0"/>
              <a:t>17</a:t>
            </a:r>
            <a:endParaRPr lang="fr-CH" dirty="0"/>
          </a:p>
        </p:txBody>
      </p:sp>
      <p:sp>
        <p:nvSpPr>
          <p:cNvPr id="20" name="ZoneTexte 19"/>
          <p:cNvSpPr txBox="1"/>
          <p:nvPr/>
        </p:nvSpPr>
        <p:spPr>
          <a:xfrm>
            <a:off x="3179702" y="4683340"/>
            <a:ext cx="2784296" cy="307777"/>
          </a:xfrm>
          <a:prstGeom prst="rect">
            <a:avLst/>
          </a:prstGeom>
          <a:noFill/>
        </p:spPr>
        <p:txBody>
          <a:bodyPr wrap="square" rtlCol="0">
            <a:spAutoFit/>
          </a:bodyPr>
          <a:lstStyle/>
          <a:p>
            <a:pPr algn="ctr"/>
            <a:r>
              <a:rPr lang="fr-FR" dirty="0">
                <a:latin typeface="Footlight MT Light" panose="0204060206030A020304" pitchFamily="18" charset="0"/>
              </a:rPr>
              <a:t>PFE: Détection des émotions</a:t>
            </a:r>
          </a:p>
        </p:txBody>
      </p:sp>
      <p:sp>
        <p:nvSpPr>
          <p:cNvPr id="21" name="ZoneTexte 20"/>
          <p:cNvSpPr txBox="1"/>
          <p:nvPr/>
        </p:nvSpPr>
        <p:spPr>
          <a:xfrm>
            <a:off x="269297" y="4683340"/>
            <a:ext cx="731290" cy="307777"/>
          </a:xfrm>
          <a:prstGeom prst="rect">
            <a:avLst/>
          </a:prstGeom>
          <a:noFill/>
        </p:spPr>
        <p:txBody>
          <a:bodyPr wrap="none" rtlCol="0">
            <a:spAutoFit/>
          </a:bodyPr>
          <a:lstStyle/>
          <a:p>
            <a:r>
              <a:rPr lang="fr-FR" dirty="0">
                <a:latin typeface="Footlight MT Light" panose="0204060206030A020304" pitchFamily="18" charset="0"/>
              </a:rPr>
              <a:t>SMI-S6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720000" y="0"/>
            <a:ext cx="7704000" cy="1717773"/>
          </a:xfrm>
          <a:prstGeom prst="rect">
            <a:avLst/>
          </a:prstGeom>
        </p:spPr>
        <p:txBody>
          <a:bodyPr spcFirstLastPara="1" wrap="square" lIns="91425" tIns="91425" rIns="91425" bIns="91425" anchor="t" anchorCtr="0">
            <a:noAutofit/>
          </a:bodyPr>
          <a:lstStyle/>
          <a:p>
            <a:pPr lvl="0" algn="ctr">
              <a:lnSpc>
                <a:spcPct val="200000"/>
              </a:lnSpc>
            </a:pPr>
            <a:r>
              <a:rPr lang="fr-FR" sz="3600" dirty="0">
                <a:latin typeface="Inter" panose="020B0604020202020204" charset="0"/>
                <a:ea typeface="Inter" panose="020B0604020202020204" charset="0"/>
                <a:cs typeface="Inter"/>
                <a:sym typeface="Inter"/>
              </a:rPr>
              <a:t>3. Implémentation</a:t>
            </a:r>
          </a:p>
        </p:txBody>
      </p:sp>
      <p:sp>
        <p:nvSpPr>
          <p:cNvPr id="271" name="Google Shape;271;p33"/>
          <p:cNvSpPr txBox="1">
            <a:spLocks noGrp="1"/>
          </p:cNvSpPr>
          <p:nvPr>
            <p:ph type="subTitle" idx="1"/>
          </p:nvPr>
        </p:nvSpPr>
        <p:spPr>
          <a:xfrm>
            <a:off x="485339" y="1594101"/>
            <a:ext cx="8321203" cy="2911332"/>
          </a:xfrm>
          <a:prstGeom prst="rect">
            <a:avLst/>
          </a:prstGeom>
        </p:spPr>
        <p:txBody>
          <a:bodyPr spcFirstLastPara="1" wrap="square" lIns="91425" tIns="91425" rIns="91425" bIns="91425" anchor="t" anchorCtr="0">
            <a:noAutofit/>
          </a:bodyPr>
          <a:lstStyle/>
          <a:p>
            <a:pPr marL="0" indent="0" algn="just">
              <a:lnSpc>
                <a:spcPct val="200000"/>
              </a:lnSpc>
            </a:pPr>
            <a:r>
              <a:rPr lang="en-US" sz="1600" b="1" dirty="0"/>
              <a:t>Accuracy:</a:t>
            </a:r>
            <a:r>
              <a:rPr lang="en-US" sz="1400" b="1" dirty="0"/>
              <a:t>				</a:t>
            </a:r>
            <a:r>
              <a:rPr lang="en-US" sz="1600" b="1" dirty="0"/>
              <a:t>Loss:</a:t>
            </a:r>
          </a:p>
          <a:p>
            <a:pPr marL="0" indent="0" algn="just">
              <a:lnSpc>
                <a:spcPct val="200000"/>
              </a:lnSpc>
            </a:pPr>
            <a:endParaRPr lang="fr-FR" dirty="0"/>
          </a:p>
        </p:txBody>
      </p:sp>
      <p:sp>
        <p:nvSpPr>
          <p:cNvPr id="275" name="Google Shape;275;p33"/>
          <p:cNvSpPr txBox="1">
            <a:spLocks noGrp="1"/>
          </p:cNvSpPr>
          <p:nvPr>
            <p:ph type="subTitle" idx="7"/>
          </p:nvPr>
        </p:nvSpPr>
        <p:spPr>
          <a:xfrm>
            <a:off x="485339" y="1320068"/>
            <a:ext cx="8321204" cy="377100"/>
          </a:xfrm>
          <a:prstGeom prst="rect">
            <a:avLst/>
          </a:prstGeom>
        </p:spPr>
        <p:txBody>
          <a:bodyPr spcFirstLastPara="1" wrap="square" lIns="91425" tIns="91425" rIns="91425" bIns="91425" anchor="b" anchorCtr="0">
            <a:noAutofit/>
          </a:bodyPr>
          <a:lstStyle/>
          <a:p>
            <a:pPr lvl="0" algn="l"/>
            <a:r>
              <a:rPr lang="fr-FR" dirty="0">
                <a:latin typeface="Inter"/>
                <a:ea typeface="Inter"/>
                <a:cs typeface="Inter"/>
                <a:sym typeface="Inter"/>
              </a:rPr>
              <a:t>3.4. Résultats d’entrainement et tests</a:t>
            </a:r>
          </a:p>
        </p:txBody>
      </p:sp>
      <p:cxnSp>
        <p:nvCxnSpPr>
          <p:cNvPr id="283" name="Google Shape;283;p33"/>
          <p:cNvCxnSpPr/>
          <p:nvPr/>
        </p:nvCxnSpPr>
        <p:spPr>
          <a:xfrm>
            <a:off x="1950" y="44702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4" name="Google Shape;284;p33"/>
          <p:cNvCxnSpPr/>
          <p:nvPr/>
        </p:nvCxnSpPr>
        <p:spPr>
          <a:xfrm>
            <a:off x="1950" y="114707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5" name="Google Shape;285;p33"/>
          <p:cNvCxnSpPr/>
          <p:nvPr/>
        </p:nvCxnSpPr>
        <p:spPr>
          <a:xfrm>
            <a:off x="1950" y="4608500"/>
            <a:ext cx="9139800" cy="0"/>
          </a:xfrm>
          <a:prstGeom prst="straightConnector1">
            <a:avLst/>
          </a:prstGeom>
          <a:noFill/>
          <a:ln w="9525" cap="flat" cmpd="sng">
            <a:solidFill>
              <a:schemeClr val="dk1"/>
            </a:solidFill>
            <a:prstDash val="solid"/>
            <a:round/>
            <a:headEnd type="none" w="med" len="med"/>
            <a:tailEnd type="none" w="med" len="med"/>
          </a:ln>
        </p:spPr>
      </p:cxnSp>
      <p:pic>
        <p:nvPicPr>
          <p:cNvPr id="2" name="Imag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4941" y="1991806"/>
            <a:ext cx="3198229" cy="2616694"/>
          </a:xfrm>
          <a:prstGeom prst="rect">
            <a:avLst/>
          </a:prstGeom>
        </p:spPr>
      </p:pic>
      <p:pic>
        <p:nvPicPr>
          <p:cNvPr id="3" name="Imag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5705" y="1993832"/>
            <a:ext cx="3200479" cy="2614668"/>
          </a:xfrm>
          <a:prstGeom prst="rect">
            <a:avLst/>
          </a:prstGeom>
        </p:spPr>
      </p:pic>
      <p:sp>
        <p:nvSpPr>
          <p:cNvPr id="4" name="TextBox 3">
            <a:extLst>
              <a:ext uri="{FF2B5EF4-FFF2-40B4-BE49-F238E27FC236}">
                <a16:creationId xmlns:a16="http://schemas.microsoft.com/office/drawing/2014/main" id="{F59540B5-8D54-4A87-1FB6-FE41E66CE7F6}"/>
              </a:ext>
            </a:extLst>
          </p:cNvPr>
          <p:cNvSpPr txBox="1"/>
          <p:nvPr/>
        </p:nvSpPr>
        <p:spPr>
          <a:xfrm>
            <a:off x="8483109" y="4683340"/>
            <a:ext cx="660891" cy="307777"/>
          </a:xfrm>
          <a:prstGeom prst="rect">
            <a:avLst/>
          </a:prstGeom>
          <a:noFill/>
        </p:spPr>
        <p:txBody>
          <a:bodyPr wrap="square" rtlCol="0">
            <a:spAutoFit/>
          </a:bodyPr>
          <a:lstStyle/>
          <a:p>
            <a:r>
              <a:rPr lang="fr-FR" dirty="0"/>
              <a:t>18</a:t>
            </a:r>
            <a:endParaRPr lang="fr-CH" dirty="0"/>
          </a:p>
        </p:txBody>
      </p:sp>
      <p:sp>
        <p:nvSpPr>
          <p:cNvPr id="11" name="ZoneTexte 10"/>
          <p:cNvSpPr txBox="1"/>
          <p:nvPr/>
        </p:nvSpPr>
        <p:spPr>
          <a:xfrm>
            <a:off x="3179702" y="4683340"/>
            <a:ext cx="2784296" cy="307777"/>
          </a:xfrm>
          <a:prstGeom prst="rect">
            <a:avLst/>
          </a:prstGeom>
          <a:noFill/>
        </p:spPr>
        <p:txBody>
          <a:bodyPr wrap="square" rtlCol="0">
            <a:spAutoFit/>
          </a:bodyPr>
          <a:lstStyle/>
          <a:p>
            <a:pPr algn="ctr"/>
            <a:r>
              <a:rPr lang="fr-FR" dirty="0">
                <a:latin typeface="Footlight MT Light" panose="0204060206030A020304" pitchFamily="18" charset="0"/>
              </a:rPr>
              <a:t>PFE: Détection des émotions</a:t>
            </a:r>
          </a:p>
        </p:txBody>
      </p:sp>
      <p:sp>
        <p:nvSpPr>
          <p:cNvPr id="12" name="ZoneTexte 11"/>
          <p:cNvSpPr txBox="1"/>
          <p:nvPr/>
        </p:nvSpPr>
        <p:spPr>
          <a:xfrm>
            <a:off x="269297" y="4683340"/>
            <a:ext cx="731290" cy="307777"/>
          </a:xfrm>
          <a:prstGeom prst="rect">
            <a:avLst/>
          </a:prstGeom>
          <a:noFill/>
        </p:spPr>
        <p:txBody>
          <a:bodyPr wrap="none" rtlCol="0">
            <a:spAutoFit/>
          </a:bodyPr>
          <a:lstStyle/>
          <a:p>
            <a:r>
              <a:rPr lang="fr-FR" dirty="0">
                <a:latin typeface="Footlight MT Light" panose="0204060206030A020304" pitchFamily="18" charset="0"/>
              </a:rPr>
              <a:t>SMI-S6</a:t>
            </a:r>
          </a:p>
        </p:txBody>
      </p:sp>
    </p:spTree>
    <p:extLst>
      <p:ext uri="{BB962C8B-B14F-4D97-AF65-F5344CB8AC3E}">
        <p14:creationId xmlns:p14="http://schemas.microsoft.com/office/powerpoint/2010/main" val="1423053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720000" y="0"/>
            <a:ext cx="7704000" cy="1717773"/>
          </a:xfrm>
          <a:prstGeom prst="rect">
            <a:avLst/>
          </a:prstGeom>
        </p:spPr>
        <p:txBody>
          <a:bodyPr spcFirstLastPara="1" wrap="square" lIns="91425" tIns="91425" rIns="91425" bIns="91425" anchor="t" anchorCtr="0">
            <a:noAutofit/>
          </a:bodyPr>
          <a:lstStyle/>
          <a:p>
            <a:pPr lvl="0" algn="ctr">
              <a:lnSpc>
                <a:spcPct val="200000"/>
              </a:lnSpc>
            </a:pPr>
            <a:r>
              <a:rPr lang="fr-FR" sz="3600" dirty="0">
                <a:latin typeface="Inter" panose="020B0604020202020204" charset="0"/>
                <a:ea typeface="Inter" panose="020B0604020202020204" charset="0"/>
                <a:cs typeface="Inter"/>
                <a:sym typeface="Inter"/>
              </a:rPr>
              <a:t>3. Implémentation</a:t>
            </a:r>
          </a:p>
        </p:txBody>
      </p:sp>
      <p:sp>
        <p:nvSpPr>
          <p:cNvPr id="271" name="Google Shape;271;p33"/>
          <p:cNvSpPr txBox="1">
            <a:spLocks noGrp="1"/>
          </p:cNvSpPr>
          <p:nvPr>
            <p:ph type="subTitle" idx="1"/>
          </p:nvPr>
        </p:nvSpPr>
        <p:spPr>
          <a:xfrm>
            <a:off x="485339" y="1697167"/>
            <a:ext cx="3324661" cy="2808265"/>
          </a:xfrm>
          <a:prstGeom prst="rect">
            <a:avLst/>
          </a:prstGeom>
        </p:spPr>
        <p:txBody>
          <a:bodyPr spcFirstLastPara="1" wrap="square" lIns="91425" tIns="91425" rIns="91425" bIns="91425" anchor="t" anchorCtr="0">
            <a:noAutofit/>
          </a:bodyPr>
          <a:lstStyle/>
          <a:p>
            <a:pPr marL="0" indent="0" algn="just">
              <a:lnSpc>
                <a:spcPct val="200000"/>
              </a:lnSpc>
            </a:pPr>
            <a:r>
              <a:rPr lang="en-US" b="1" dirty="0">
                <a:latin typeface="Comic Sans MS" panose="030F0702030302020204" pitchFamily="66" charset="0"/>
              </a:rPr>
              <a:t>La </a:t>
            </a:r>
            <a:r>
              <a:rPr lang="en-US" b="1" dirty="0" err="1">
                <a:latin typeface="Comic Sans MS" panose="030F0702030302020204" pitchFamily="66" charset="0"/>
              </a:rPr>
              <a:t>forme</a:t>
            </a:r>
            <a:r>
              <a:rPr lang="en-US" b="1" dirty="0">
                <a:latin typeface="Comic Sans MS" panose="030F0702030302020204" pitchFamily="66" charset="0"/>
              </a:rPr>
              <a:t> </a:t>
            </a:r>
            <a:r>
              <a:rPr lang="en-US" b="1" dirty="0" err="1">
                <a:latin typeface="Comic Sans MS" panose="030F0702030302020204" pitchFamily="66" charset="0"/>
              </a:rPr>
              <a:t>d’interface</a:t>
            </a:r>
            <a:r>
              <a:rPr lang="en-US" b="1" dirty="0">
                <a:latin typeface="Comic Sans MS" panose="030F0702030302020204" pitchFamily="66" charset="0"/>
              </a:rPr>
              <a:t>:</a:t>
            </a:r>
          </a:p>
          <a:p>
            <a:pPr marL="0" indent="0" algn="just">
              <a:lnSpc>
                <a:spcPct val="200000"/>
              </a:lnSpc>
            </a:pPr>
            <a:r>
              <a:rPr lang="fr-FR" dirty="0">
                <a:latin typeface="Comic Sans MS" panose="030F0702030302020204" pitchFamily="66" charset="0"/>
              </a:rPr>
              <a:t>Cette interface a été créée avec </a:t>
            </a:r>
            <a:r>
              <a:rPr lang="fr-FR" dirty="0" err="1">
                <a:latin typeface="Comic Sans MS" panose="030F0702030302020204" pitchFamily="66" charset="0"/>
              </a:rPr>
              <a:t>Tkinter</a:t>
            </a:r>
            <a:r>
              <a:rPr lang="fr-FR" dirty="0">
                <a:latin typeface="Comic Sans MS" panose="030F0702030302020204" pitchFamily="66" charset="0"/>
              </a:rPr>
              <a:t>.</a:t>
            </a:r>
          </a:p>
        </p:txBody>
      </p:sp>
      <p:sp>
        <p:nvSpPr>
          <p:cNvPr id="275" name="Google Shape;275;p33"/>
          <p:cNvSpPr txBox="1">
            <a:spLocks noGrp="1"/>
          </p:cNvSpPr>
          <p:nvPr>
            <p:ph type="subTitle" idx="7"/>
          </p:nvPr>
        </p:nvSpPr>
        <p:spPr>
          <a:xfrm>
            <a:off x="485339" y="1320068"/>
            <a:ext cx="8321204" cy="377100"/>
          </a:xfrm>
          <a:prstGeom prst="rect">
            <a:avLst/>
          </a:prstGeom>
        </p:spPr>
        <p:txBody>
          <a:bodyPr spcFirstLastPara="1" wrap="square" lIns="91425" tIns="91425" rIns="91425" bIns="91425" anchor="b" anchorCtr="0">
            <a:noAutofit/>
          </a:bodyPr>
          <a:lstStyle/>
          <a:p>
            <a:pPr lvl="0" algn="l"/>
            <a:r>
              <a:rPr lang="fr-FR" dirty="0">
                <a:latin typeface="Inter"/>
                <a:ea typeface="Inter"/>
                <a:cs typeface="Inter"/>
                <a:sym typeface="Inter"/>
              </a:rPr>
              <a:t>3.4. Résultats d’entrainement et tests</a:t>
            </a:r>
          </a:p>
        </p:txBody>
      </p:sp>
      <p:cxnSp>
        <p:nvCxnSpPr>
          <p:cNvPr id="283" name="Google Shape;283;p33"/>
          <p:cNvCxnSpPr/>
          <p:nvPr/>
        </p:nvCxnSpPr>
        <p:spPr>
          <a:xfrm>
            <a:off x="1950" y="44702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4" name="Google Shape;284;p33"/>
          <p:cNvCxnSpPr/>
          <p:nvPr/>
        </p:nvCxnSpPr>
        <p:spPr>
          <a:xfrm>
            <a:off x="1950" y="114707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5" name="Google Shape;285;p33"/>
          <p:cNvCxnSpPr/>
          <p:nvPr/>
        </p:nvCxnSpPr>
        <p:spPr>
          <a:xfrm>
            <a:off x="1950" y="4608500"/>
            <a:ext cx="9139800" cy="0"/>
          </a:xfrm>
          <a:prstGeom prst="straightConnector1">
            <a:avLst/>
          </a:prstGeom>
          <a:noFill/>
          <a:ln w="9525" cap="flat" cmpd="sng">
            <a:solidFill>
              <a:schemeClr val="dk1"/>
            </a:solidFill>
            <a:prstDash val="solid"/>
            <a:round/>
            <a:headEnd type="none" w="med" len="med"/>
            <a:tailEnd type="none" w="med" len="med"/>
          </a:ln>
        </p:spPr>
      </p:cxnSp>
      <p:pic>
        <p:nvPicPr>
          <p:cNvPr id="4" name="Imag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44661" y="1589314"/>
            <a:ext cx="4614000" cy="2998581"/>
          </a:xfrm>
          <a:prstGeom prst="rect">
            <a:avLst/>
          </a:prstGeom>
        </p:spPr>
      </p:pic>
      <p:sp>
        <p:nvSpPr>
          <p:cNvPr id="2" name="TextBox 1">
            <a:extLst>
              <a:ext uri="{FF2B5EF4-FFF2-40B4-BE49-F238E27FC236}">
                <a16:creationId xmlns:a16="http://schemas.microsoft.com/office/drawing/2014/main" id="{2AF5BC00-D071-4815-8A46-D76B9397C069}"/>
              </a:ext>
            </a:extLst>
          </p:cNvPr>
          <p:cNvSpPr txBox="1"/>
          <p:nvPr/>
        </p:nvSpPr>
        <p:spPr>
          <a:xfrm>
            <a:off x="8483109" y="4683340"/>
            <a:ext cx="660891" cy="307777"/>
          </a:xfrm>
          <a:prstGeom prst="rect">
            <a:avLst/>
          </a:prstGeom>
          <a:noFill/>
        </p:spPr>
        <p:txBody>
          <a:bodyPr wrap="square" rtlCol="0">
            <a:spAutoFit/>
          </a:bodyPr>
          <a:lstStyle/>
          <a:p>
            <a:r>
              <a:rPr lang="fr-FR" dirty="0"/>
              <a:t>19</a:t>
            </a:r>
            <a:endParaRPr lang="fr-CH" dirty="0"/>
          </a:p>
        </p:txBody>
      </p:sp>
      <p:sp>
        <p:nvSpPr>
          <p:cNvPr id="10" name="ZoneTexte 9"/>
          <p:cNvSpPr txBox="1"/>
          <p:nvPr/>
        </p:nvSpPr>
        <p:spPr>
          <a:xfrm>
            <a:off x="3179702" y="4683340"/>
            <a:ext cx="2784296" cy="307777"/>
          </a:xfrm>
          <a:prstGeom prst="rect">
            <a:avLst/>
          </a:prstGeom>
          <a:noFill/>
        </p:spPr>
        <p:txBody>
          <a:bodyPr wrap="square" rtlCol="0">
            <a:spAutoFit/>
          </a:bodyPr>
          <a:lstStyle/>
          <a:p>
            <a:pPr algn="ctr"/>
            <a:r>
              <a:rPr lang="fr-FR" dirty="0">
                <a:latin typeface="Footlight MT Light" panose="0204060206030A020304" pitchFamily="18" charset="0"/>
              </a:rPr>
              <a:t>PFE: Détection des émotions</a:t>
            </a:r>
          </a:p>
        </p:txBody>
      </p:sp>
      <p:sp>
        <p:nvSpPr>
          <p:cNvPr id="11" name="ZoneTexte 10"/>
          <p:cNvSpPr txBox="1"/>
          <p:nvPr/>
        </p:nvSpPr>
        <p:spPr>
          <a:xfrm>
            <a:off x="269297" y="4683340"/>
            <a:ext cx="731290" cy="307777"/>
          </a:xfrm>
          <a:prstGeom prst="rect">
            <a:avLst/>
          </a:prstGeom>
          <a:noFill/>
        </p:spPr>
        <p:txBody>
          <a:bodyPr wrap="none" rtlCol="0">
            <a:spAutoFit/>
          </a:bodyPr>
          <a:lstStyle/>
          <a:p>
            <a:r>
              <a:rPr lang="fr-FR" dirty="0">
                <a:latin typeface="Footlight MT Light" panose="0204060206030A020304" pitchFamily="18" charset="0"/>
              </a:rPr>
              <a:t>SMI-S6</a:t>
            </a:r>
          </a:p>
        </p:txBody>
      </p:sp>
    </p:spTree>
    <p:extLst>
      <p:ext uri="{BB962C8B-B14F-4D97-AF65-F5344CB8AC3E}">
        <p14:creationId xmlns:p14="http://schemas.microsoft.com/office/powerpoint/2010/main" val="22935560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720000" y="0"/>
            <a:ext cx="7704000" cy="1717773"/>
          </a:xfrm>
          <a:prstGeom prst="rect">
            <a:avLst/>
          </a:prstGeom>
        </p:spPr>
        <p:txBody>
          <a:bodyPr spcFirstLastPara="1" wrap="square" lIns="91425" tIns="91425" rIns="91425" bIns="91425" anchor="t" anchorCtr="0">
            <a:noAutofit/>
          </a:bodyPr>
          <a:lstStyle/>
          <a:p>
            <a:pPr lvl="0" algn="ctr">
              <a:lnSpc>
                <a:spcPct val="200000"/>
              </a:lnSpc>
            </a:pPr>
            <a:r>
              <a:rPr lang="fr-FR" sz="3600" dirty="0">
                <a:latin typeface="Inter" panose="020B0604020202020204" charset="0"/>
                <a:ea typeface="Inter" panose="020B0604020202020204" charset="0"/>
                <a:cs typeface="Inter"/>
                <a:sym typeface="Inter"/>
              </a:rPr>
              <a:t>3. Implémentation</a:t>
            </a:r>
          </a:p>
        </p:txBody>
      </p:sp>
      <p:sp>
        <p:nvSpPr>
          <p:cNvPr id="271" name="Google Shape;271;p33"/>
          <p:cNvSpPr txBox="1">
            <a:spLocks noGrp="1"/>
          </p:cNvSpPr>
          <p:nvPr>
            <p:ph type="subTitle" idx="1"/>
          </p:nvPr>
        </p:nvSpPr>
        <p:spPr>
          <a:xfrm>
            <a:off x="485339" y="1717773"/>
            <a:ext cx="3698041" cy="2787660"/>
          </a:xfrm>
          <a:prstGeom prst="rect">
            <a:avLst/>
          </a:prstGeom>
        </p:spPr>
        <p:txBody>
          <a:bodyPr spcFirstLastPara="1" wrap="square" lIns="91425" tIns="91425" rIns="91425" bIns="91425" anchor="t" anchorCtr="0">
            <a:noAutofit/>
          </a:bodyPr>
          <a:lstStyle/>
          <a:p>
            <a:pPr marL="0" indent="0" algn="just">
              <a:lnSpc>
                <a:spcPct val="200000"/>
              </a:lnSpc>
            </a:pPr>
            <a:r>
              <a:rPr lang="fr-FR" dirty="0">
                <a:latin typeface="Comic Sans MS" panose="030F0702030302020204" pitchFamily="66" charset="0"/>
              </a:rPr>
              <a:t>Le test avec le téléchargement d'une image à partir d'un fichier.</a:t>
            </a:r>
          </a:p>
        </p:txBody>
      </p:sp>
      <p:sp>
        <p:nvSpPr>
          <p:cNvPr id="275" name="Google Shape;275;p33"/>
          <p:cNvSpPr txBox="1">
            <a:spLocks noGrp="1"/>
          </p:cNvSpPr>
          <p:nvPr>
            <p:ph type="subTitle" idx="7"/>
          </p:nvPr>
        </p:nvSpPr>
        <p:spPr>
          <a:xfrm>
            <a:off x="485339" y="1320068"/>
            <a:ext cx="8321204" cy="377100"/>
          </a:xfrm>
          <a:prstGeom prst="rect">
            <a:avLst/>
          </a:prstGeom>
        </p:spPr>
        <p:txBody>
          <a:bodyPr spcFirstLastPara="1" wrap="square" lIns="91425" tIns="91425" rIns="91425" bIns="91425" anchor="b" anchorCtr="0">
            <a:noAutofit/>
          </a:bodyPr>
          <a:lstStyle/>
          <a:p>
            <a:pPr lvl="0" algn="l"/>
            <a:r>
              <a:rPr lang="fr-FR" dirty="0">
                <a:latin typeface="Inter"/>
                <a:ea typeface="Inter"/>
                <a:cs typeface="Inter"/>
                <a:sym typeface="Inter"/>
              </a:rPr>
              <a:t>3.4. Résultats d’entrainement et tests</a:t>
            </a:r>
          </a:p>
        </p:txBody>
      </p:sp>
      <p:cxnSp>
        <p:nvCxnSpPr>
          <p:cNvPr id="283" name="Google Shape;283;p33"/>
          <p:cNvCxnSpPr/>
          <p:nvPr/>
        </p:nvCxnSpPr>
        <p:spPr>
          <a:xfrm>
            <a:off x="1950" y="44702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4" name="Google Shape;284;p33"/>
          <p:cNvCxnSpPr/>
          <p:nvPr/>
        </p:nvCxnSpPr>
        <p:spPr>
          <a:xfrm>
            <a:off x="1950" y="1147075"/>
            <a:ext cx="9139800" cy="0"/>
          </a:xfrm>
          <a:prstGeom prst="straightConnector1">
            <a:avLst/>
          </a:prstGeom>
          <a:noFill/>
          <a:ln w="9525" cap="flat" cmpd="sng">
            <a:solidFill>
              <a:schemeClr val="dk1"/>
            </a:solidFill>
            <a:prstDash val="solid"/>
            <a:round/>
            <a:headEnd type="none" w="med" len="med"/>
            <a:tailEnd type="none" w="med" len="med"/>
          </a:ln>
        </p:spPr>
      </p:cxnSp>
      <p:pic>
        <p:nvPicPr>
          <p:cNvPr id="4" name="Imag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1756767"/>
            <a:ext cx="4469204" cy="2810502"/>
          </a:xfrm>
          <a:prstGeom prst="rect">
            <a:avLst/>
          </a:prstGeom>
        </p:spPr>
      </p:pic>
      <p:sp>
        <p:nvSpPr>
          <p:cNvPr id="2" name="TextBox 1">
            <a:extLst>
              <a:ext uri="{FF2B5EF4-FFF2-40B4-BE49-F238E27FC236}">
                <a16:creationId xmlns:a16="http://schemas.microsoft.com/office/drawing/2014/main" id="{4E36D5BA-BE73-4CD8-0974-26746D2C4A71}"/>
              </a:ext>
            </a:extLst>
          </p:cNvPr>
          <p:cNvSpPr txBox="1"/>
          <p:nvPr/>
        </p:nvSpPr>
        <p:spPr>
          <a:xfrm>
            <a:off x="8483109" y="4683340"/>
            <a:ext cx="660891" cy="307777"/>
          </a:xfrm>
          <a:prstGeom prst="rect">
            <a:avLst/>
          </a:prstGeom>
          <a:noFill/>
        </p:spPr>
        <p:txBody>
          <a:bodyPr wrap="square" rtlCol="0">
            <a:spAutoFit/>
          </a:bodyPr>
          <a:lstStyle/>
          <a:p>
            <a:r>
              <a:rPr lang="fr-FR" dirty="0"/>
              <a:t>20</a:t>
            </a:r>
            <a:endParaRPr lang="fr-CH" dirty="0"/>
          </a:p>
        </p:txBody>
      </p:sp>
      <p:sp>
        <p:nvSpPr>
          <p:cNvPr id="10" name="ZoneTexte 9"/>
          <p:cNvSpPr txBox="1"/>
          <p:nvPr/>
        </p:nvSpPr>
        <p:spPr>
          <a:xfrm>
            <a:off x="3179702" y="4683340"/>
            <a:ext cx="2784296" cy="307777"/>
          </a:xfrm>
          <a:prstGeom prst="rect">
            <a:avLst/>
          </a:prstGeom>
          <a:noFill/>
        </p:spPr>
        <p:txBody>
          <a:bodyPr wrap="square" rtlCol="0">
            <a:spAutoFit/>
          </a:bodyPr>
          <a:lstStyle/>
          <a:p>
            <a:pPr algn="ctr"/>
            <a:r>
              <a:rPr lang="fr-FR" dirty="0">
                <a:latin typeface="Footlight MT Light" panose="0204060206030A020304" pitchFamily="18" charset="0"/>
              </a:rPr>
              <a:t>PFE: Détection des émotions</a:t>
            </a:r>
          </a:p>
        </p:txBody>
      </p:sp>
      <p:sp>
        <p:nvSpPr>
          <p:cNvPr id="11" name="ZoneTexte 10"/>
          <p:cNvSpPr txBox="1"/>
          <p:nvPr/>
        </p:nvSpPr>
        <p:spPr>
          <a:xfrm>
            <a:off x="269297" y="4683340"/>
            <a:ext cx="731290" cy="307777"/>
          </a:xfrm>
          <a:prstGeom prst="rect">
            <a:avLst/>
          </a:prstGeom>
          <a:noFill/>
        </p:spPr>
        <p:txBody>
          <a:bodyPr wrap="none" rtlCol="0">
            <a:spAutoFit/>
          </a:bodyPr>
          <a:lstStyle/>
          <a:p>
            <a:r>
              <a:rPr lang="fr-FR" dirty="0">
                <a:latin typeface="Footlight MT Light" panose="0204060206030A020304" pitchFamily="18" charset="0"/>
              </a:rPr>
              <a:t>SMI-S6</a:t>
            </a:r>
          </a:p>
        </p:txBody>
      </p:sp>
      <p:cxnSp>
        <p:nvCxnSpPr>
          <p:cNvPr id="12" name="Google Shape;285;p33"/>
          <p:cNvCxnSpPr/>
          <p:nvPr/>
        </p:nvCxnSpPr>
        <p:spPr>
          <a:xfrm>
            <a:off x="-69968" y="4608500"/>
            <a:ext cx="9139800" cy="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398377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720000" y="0"/>
            <a:ext cx="7704000" cy="1717773"/>
          </a:xfrm>
          <a:prstGeom prst="rect">
            <a:avLst/>
          </a:prstGeom>
        </p:spPr>
        <p:txBody>
          <a:bodyPr spcFirstLastPara="1" wrap="square" lIns="91425" tIns="91425" rIns="91425" bIns="91425" anchor="t" anchorCtr="0">
            <a:noAutofit/>
          </a:bodyPr>
          <a:lstStyle/>
          <a:p>
            <a:pPr lvl="0" algn="ctr">
              <a:lnSpc>
                <a:spcPct val="200000"/>
              </a:lnSpc>
            </a:pPr>
            <a:r>
              <a:rPr lang="fr-FR" sz="3600" dirty="0">
                <a:latin typeface="Inter" panose="020B0604020202020204" charset="0"/>
                <a:ea typeface="Inter" panose="020B0604020202020204" charset="0"/>
                <a:cs typeface="Inter"/>
                <a:sym typeface="Inter"/>
              </a:rPr>
              <a:t>3. Implémentation</a:t>
            </a:r>
          </a:p>
        </p:txBody>
      </p:sp>
      <p:sp>
        <p:nvSpPr>
          <p:cNvPr id="271" name="Google Shape;271;p33"/>
          <p:cNvSpPr txBox="1">
            <a:spLocks noGrp="1"/>
          </p:cNvSpPr>
          <p:nvPr>
            <p:ph type="subTitle" idx="1"/>
          </p:nvPr>
        </p:nvSpPr>
        <p:spPr>
          <a:xfrm>
            <a:off x="485338" y="1717773"/>
            <a:ext cx="4086662" cy="2787660"/>
          </a:xfrm>
          <a:prstGeom prst="rect">
            <a:avLst/>
          </a:prstGeom>
        </p:spPr>
        <p:txBody>
          <a:bodyPr spcFirstLastPara="1" wrap="square" lIns="91425" tIns="91425" rIns="91425" bIns="91425" anchor="t" anchorCtr="0">
            <a:noAutofit/>
          </a:bodyPr>
          <a:lstStyle/>
          <a:p>
            <a:pPr marL="0" indent="0" algn="just">
              <a:lnSpc>
                <a:spcPct val="200000"/>
              </a:lnSpc>
            </a:pPr>
            <a:r>
              <a:rPr lang="fr-FR" dirty="0">
                <a:latin typeface="Comic Sans MS" panose="030F0702030302020204" pitchFamily="66" charset="0"/>
              </a:rPr>
              <a:t>Le test avec l'utilisation de la caméra.</a:t>
            </a:r>
          </a:p>
        </p:txBody>
      </p:sp>
      <p:sp>
        <p:nvSpPr>
          <p:cNvPr id="275" name="Google Shape;275;p33"/>
          <p:cNvSpPr txBox="1">
            <a:spLocks noGrp="1"/>
          </p:cNvSpPr>
          <p:nvPr>
            <p:ph type="subTitle" idx="7"/>
          </p:nvPr>
        </p:nvSpPr>
        <p:spPr>
          <a:xfrm>
            <a:off x="485339" y="1320068"/>
            <a:ext cx="8321204" cy="377100"/>
          </a:xfrm>
          <a:prstGeom prst="rect">
            <a:avLst/>
          </a:prstGeom>
        </p:spPr>
        <p:txBody>
          <a:bodyPr spcFirstLastPara="1" wrap="square" lIns="91425" tIns="91425" rIns="91425" bIns="91425" anchor="b" anchorCtr="0">
            <a:noAutofit/>
          </a:bodyPr>
          <a:lstStyle/>
          <a:p>
            <a:pPr lvl="0" algn="l"/>
            <a:r>
              <a:rPr lang="fr-FR" dirty="0">
                <a:latin typeface="Inter"/>
                <a:ea typeface="Inter"/>
                <a:cs typeface="Inter"/>
                <a:sym typeface="Inter"/>
              </a:rPr>
              <a:t>3.4. Résultats d’entrainement et tests</a:t>
            </a:r>
          </a:p>
        </p:txBody>
      </p:sp>
      <p:cxnSp>
        <p:nvCxnSpPr>
          <p:cNvPr id="283" name="Google Shape;283;p33"/>
          <p:cNvCxnSpPr/>
          <p:nvPr/>
        </p:nvCxnSpPr>
        <p:spPr>
          <a:xfrm>
            <a:off x="1950" y="44702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4" name="Google Shape;284;p33"/>
          <p:cNvCxnSpPr/>
          <p:nvPr/>
        </p:nvCxnSpPr>
        <p:spPr>
          <a:xfrm>
            <a:off x="1950" y="114707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5" name="Google Shape;285;p33"/>
          <p:cNvCxnSpPr/>
          <p:nvPr/>
        </p:nvCxnSpPr>
        <p:spPr>
          <a:xfrm>
            <a:off x="1950" y="4608500"/>
            <a:ext cx="9139800" cy="0"/>
          </a:xfrm>
          <a:prstGeom prst="straightConnector1">
            <a:avLst/>
          </a:prstGeom>
          <a:noFill/>
          <a:ln w="9525" cap="flat" cmpd="sng">
            <a:solidFill>
              <a:schemeClr val="dk1"/>
            </a:solidFill>
            <a:prstDash val="solid"/>
            <a:round/>
            <a:headEnd type="none" w="med" len="med"/>
            <a:tailEnd type="none" w="med" len="med"/>
          </a:ln>
        </p:spPr>
      </p:cxnSp>
      <p:sp>
        <p:nvSpPr>
          <p:cNvPr id="2" name="TextBox 1">
            <a:extLst>
              <a:ext uri="{FF2B5EF4-FFF2-40B4-BE49-F238E27FC236}">
                <a16:creationId xmlns:a16="http://schemas.microsoft.com/office/drawing/2014/main" id="{D8F83D50-2CBB-C440-C45B-C4274CD7DD05}"/>
              </a:ext>
            </a:extLst>
          </p:cNvPr>
          <p:cNvSpPr txBox="1"/>
          <p:nvPr/>
        </p:nvSpPr>
        <p:spPr>
          <a:xfrm>
            <a:off x="8483109" y="4683340"/>
            <a:ext cx="660891" cy="307777"/>
          </a:xfrm>
          <a:prstGeom prst="rect">
            <a:avLst/>
          </a:prstGeom>
          <a:noFill/>
        </p:spPr>
        <p:txBody>
          <a:bodyPr wrap="square" rtlCol="0">
            <a:spAutoFit/>
          </a:bodyPr>
          <a:lstStyle/>
          <a:p>
            <a:r>
              <a:rPr lang="fr-FR" dirty="0"/>
              <a:t>21</a:t>
            </a:r>
            <a:endParaRPr lang="fr-CH" dirty="0"/>
          </a:p>
        </p:txBody>
      </p:sp>
      <p:pic>
        <p:nvPicPr>
          <p:cNvPr id="5" name="Picture 4">
            <a:extLst>
              <a:ext uri="{FF2B5EF4-FFF2-40B4-BE49-F238E27FC236}">
                <a16:creationId xmlns:a16="http://schemas.microsoft.com/office/drawing/2014/main" id="{67884294-655C-510B-4460-F81DACB560F6}"/>
              </a:ext>
            </a:extLst>
          </p:cNvPr>
          <p:cNvPicPr>
            <a:picLocks noChangeAspect="1"/>
          </p:cNvPicPr>
          <p:nvPr/>
        </p:nvPicPr>
        <p:blipFill>
          <a:blip r:embed="rId3"/>
          <a:stretch>
            <a:fillRect/>
          </a:stretch>
        </p:blipFill>
        <p:spPr>
          <a:xfrm>
            <a:off x="4572001" y="1772007"/>
            <a:ext cx="4469204" cy="2787657"/>
          </a:xfrm>
          <a:prstGeom prst="rect">
            <a:avLst/>
          </a:prstGeom>
        </p:spPr>
      </p:pic>
      <p:sp>
        <p:nvSpPr>
          <p:cNvPr id="10" name="ZoneTexte 9"/>
          <p:cNvSpPr txBox="1"/>
          <p:nvPr/>
        </p:nvSpPr>
        <p:spPr>
          <a:xfrm>
            <a:off x="3179702" y="4683340"/>
            <a:ext cx="2784296" cy="307777"/>
          </a:xfrm>
          <a:prstGeom prst="rect">
            <a:avLst/>
          </a:prstGeom>
          <a:noFill/>
        </p:spPr>
        <p:txBody>
          <a:bodyPr wrap="square" rtlCol="0">
            <a:spAutoFit/>
          </a:bodyPr>
          <a:lstStyle/>
          <a:p>
            <a:pPr algn="ctr"/>
            <a:r>
              <a:rPr lang="fr-FR" dirty="0">
                <a:latin typeface="Footlight MT Light" panose="0204060206030A020304" pitchFamily="18" charset="0"/>
              </a:rPr>
              <a:t>PFE: Détection des émotions</a:t>
            </a:r>
          </a:p>
        </p:txBody>
      </p:sp>
      <p:sp>
        <p:nvSpPr>
          <p:cNvPr id="11" name="ZoneTexte 10"/>
          <p:cNvSpPr txBox="1"/>
          <p:nvPr/>
        </p:nvSpPr>
        <p:spPr>
          <a:xfrm>
            <a:off x="269297" y="4683340"/>
            <a:ext cx="731290" cy="307777"/>
          </a:xfrm>
          <a:prstGeom prst="rect">
            <a:avLst/>
          </a:prstGeom>
          <a:noFill/>
        </p:spPr>
        <p:txBody>
          <a:bodyPr wrap="none" rtlCol="0">
            <a:spAutoFit/>
          </a:bodyPr>
          <a:lstStyle/>
          <a:p>
            <a:r>
              <a:rPr lang="fr-FR" dirty="0">
                <a:latin typeface="Footlight MT Light" panose="0204060206030A020304" pitchFamily="18" charset="0"/>
              </a:rPr>
              <a:t>SMI-S6</a:t>
            </a:r>
          </a:p>
        </p:txBody>
      </p:sp>
    </p:spTree>
    <p:extLst>
      <p:ext uri="{BB962C8B-B14F-4D97-AF65-F5344CB8AC3E}">
        <p14:creationId xmlns:p14="http://schemas.microsoft.com/office/powerpoint/2010/main" val="37251074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719850" y="46316"/>
            <a:ext cx="7704000" cy="1272748"/>
          </a:xfrm>
          <a:prstGeom prst="rect">
            <a:avLst/>
          </a:prstGeom>
        </p:spPr>
        <p:txBody>
          <a:bodyPr spcFirstLastPara="1" wrap="square" lIns="91425" tIns="91425" rIns="91425" bIns="91425" anchor="t" anchorCtr="0">
            <a:noAutofit/>
          </a:bodyPr>
          <a:lstStyle/>
          <a:p>
            <a:pPr algn="ctr">
              <a:lnSpc>
                <a:spcPct val="200000"/>
              </a:lnSpc>
            </a:pPr>
            <a:r>
              <a:rPr lang="fr-FR" sz="3600" dirty="0">
                <a:latin typeface="Inter" panose="020B0604020202020204" charset="0"/>
                <a:ea typeface="Inter" panose="020B0604020202020204" charset="0"/>
                <a:cs typeface="Inter"/>
                <a:sym typeface="Inter"/>
              </a:rPr>
              <a:t>4. Conclusion</a:t>
            </a:r>
          </a:p>
        </p:txBody>
      </p:sp>
      <p:sp>
        <p:nvSpPr>
          <p:cNvPr id="271" name="Google Shape;271;p33"/>
          <p:cNvSpPr txBox="1">
            <a:spLocks noGrp="1"/>
          </p:cNvSpPr>
          <p:nvPr>
            <p:ph type="subTitle" idx="1"/>
          </p:nvPr>
        </p:nvSpPr>
        <p:spPr>
          <a:xfrm>
            <a:off x="485339" y="1415143"/>
            <a:ext cx="8506261" cy="3193357"/>
          </a:xfrm>
          <a:prstGeom prst="rect">
            <a:avLst/>
          </a:prstGeom>
        </p:spPr>
        <p:txBody>
          <a:bodyPr spcFirstLastPara="1" wrap="square" lIns="91425" tIns="91425" rIns="91425" bIns="91425" anchor="t" anchorCtr="0">
            <a:noAutofit/>
          </a:bodyPr>
          <a:lstStyle/>
          <a:p>
            <a:pPr marL="0" indent="0" algn="just">
              <a:lnSpc>
                <a:spcPct val="200000"/>
              </a:lnSpc>
            </a:pPr>
            <a:r>
              <a:rPr lang="fr-FR" dirty="0">
                <a:latin typeface="Comic Sans MS" panose="030F0702030302020204" pitchFamily="66" charset="0"/>
              </a:rPr>
              <a:t>        En conclusion, notre projet de détection des émotions offre une approche efficace pour renforcer la sécurité dans les lieux publics en identifiant les individus suspects. </a:t>
            </a:r>
          </a:p>
          <a:p>
            <a:pPr marL="0" indent="0" algn="just">
              <a:lnSpc>
                <a:spcPct val="200000"/>
              </a:lnSpc>
            </a:pPr>
            <a:r>
              <a:rPr lang="fr-FR" dirty="0">
                <a:latin typeface="Comic Sans MS" panose="030F0702030302020204" pitchFamily="66" charset="0"/>
              </a:rPr>
              <a:t>        En fusionnant des images contenant les émotions des personnes avec diverses techniques de traitement d'images par </a:t>
            </a:r>
            <a:r>
              <a:rPr lang="fr-FR" dirty="0" err="1">
                <a:latin typeface="Comic Sans MS" panose="030F0702030302020204" pitchFamily="66" charset="0"/>
              </a:rPr>
              <a:t>deep</a:t>
            </a:r>
            <a:r>
              <a:rPr lang="fr-FR" dirty="0">
                <a:latin typeface="Comic Sans MS" panose="030F0702030302020204" pitchFamily="66" charset="0"/>
              </a:rPr>
              <a:t> </a:t>
            </a:r>
            <a:r>
              <a:rPr lang="fr-FR" dirty="0" err="1">
                <a:latin typeface="Comic Sans MS" panose="030F0702030302020204" pitchFamily="66" charset="0"/>
              </a:rPr>
              <a:t>learning</a:t>
            </a:r>
            <a:r>
              <a:rPr lang="fr-FR" dirty="0">
                <a:latin typeface="Comic Sans MS" panose="030F0702030302020204" pitchFamily="66" charset="0"/>
              </a:rPr>
              <a:t>, nous avons réussi à développer un système capable de détecter en temps réel les émotions des individus. </a:t>
            </a:r>
          </a:p>
          <a:p>
            <a:pPr marL="0" indent="0" algn="just">
              <a:lnSpc>
                <a:spcPct val="200000"/>
              </a:lnSpc>
            </a:pPr>
            <a:r>
              <a:rPr lang="fr-FR" dirty="0">
                <a:latin typeface="Comic Sans MS" panose="030F0702030302020204" pitchFamily="66" charset="0"/>
              </a:rPr>
              <a:t>        Ce projet ouvre également de nouvelles perspectives dans le domaine de la santé, en permettant le suivi de l'état des patients dans les hôpitaux en se basant sur leurs émotions.</a:t>
            </a:r>
          </a:p>
        </p:txBody>
      </p:sp>
      <p:cxnSp>
        <p:nvCxnSpPr>
          <p:cNvPr id="283" name="Google Shape;283;p33"/>
          <p:cNvCxnSpPr/>
          <p:nvPr/>
        </p:nvCxnSpPr>
        <p:spPr>
          <a:xfrm>
            <a:off x="1950" y="44702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4" name="Google Shape;284;p33"/>
          <p:cNvCxnSpPr/>
          <p:nvPr/>
        </p:nvCxnSpPr>
        <p:spPr>
          <a:xfrm>
            <a:off x="1950" y="114707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5" name="Google Shape;285;p33"/>
          <p:cNvCxnSpPr/>
          <p:nvPr/>
        </p:nvCxnSpPr>
        <p:spPr>
          <a:xfrm>
            <a:off x="1950" y="4608500"/>
            <a:ext cx="9139800" cy="0"/>
          </a:xfrm>
          <a:prstGeom prst="straightConnector1">
            <a:avLst/>
          </a:prstGeom>
          <a:noFill/>
          <a:ln w="9525" cap="flat" cmpd="sng">
            <a:solidFill>
              <a:schemeClr val="dk1"/>
            </a:solidFill>
            <a:prstDash val="solid"/>
            <a:round/>
            <a:headEnd type="none" w="med" len="med"/>
            <a:tailEnd type="none" w="med" len="med"/>
          </a:ln>
        </p:spPr>
      </p:cxnSp>
      <p:sp>
        <p:nvSpPr>
          <p:cNvPr id="2" name="TextBox 1">
            <a:extLst>
              <a:ext uri="{FF2B5EF4-FFF2-40B4-BE49-F238E27FC236}">
                <a16:creationId xmlns:a16="http://schemas.microsoft.com/office/drawing/2014/main" id="{20B8D183-39FC-9776-115A-FDA723794B93}"/>
              </a:ext>
            </a:extLst>
          </p:cNvPr>
          <p:cNvSpPr txBox="1"/>
          <p:nvPr/>
        </p:nvSpPr>
        <p:spPr>
          <a:xfrm>
            <a:off x="8483109" y="4683340"/>
            <a:ext cx="660891" cy="307777"/>
          </a:xfrm>
          <a:prstGeom prst="rect">
            <a:avLst/>
          </a:prstGeom>
          <a:noFill/>
        </p:spPr>
        <p:txBody>
          <a:bodyPr wrap="square" rtlCol="0">
            <a:spAutoFit/>
          </a:bodyPr>
          <a:lstStyle/>
          <a:p>
            <a:r>
              <a:rPr lang="fr-FR" dirty="0"/>
              <a:t>22</a:t>
            </a:r>
            <a:endParaRPr lang="fr-CH" dirty="0"/>
          </a:p>
        </p:txBody>
      </p:sp>
      <p:sp>
        <p:nvSpPr>
          <p:cNvPr id="8" name="ZoneTexte 7"/>
          <p:cNvSpPr txBox="1"/>
          <p:nvPr/>
        </p:nvSpPr>
        <p:spPr>
          <a:xfrm>
            <a:off x="3179702" y="4683340"/>
            <a:ext cx="2784296" cy="307777"/>
          </a:xfrm>
          <a:prstGeom prst="rect">
            <a:avLst/>
          </a:prstGeom>
          <a:noFill/>
        </p:spPr>
        <p:txBody>
          <a:bodyPr wrap="square" rtlCol="0">
            <a:spAutoFit/>
          </a:bodyPr>
          <a:lstStyle/>
          <a:p>
            <a:pPr algn="ctr"/>
            <a:r>
              <a:rPr lang="fr-FR" dirty="0">
                <a:latin typeface="Footlight MT Light" panose="0204060206030A020304" pitchFamily="18" charset="0"/>
              </a:rPr>
              <a:t>PFE: Détection des émotions</a:t>
            </a:r>
          </a:p>
        </p:txBody>
      </p:sp>
      <p:sp>
        <p:nvSpPr>
          <p:cNvPr id="9" name="ZoneTexte 8"/>
          <p:cNvSpPr txBox="1"/>
          <p:nvPr/>
        </p:nvSpPr>
        <p:spPr>
          <a:xfrm>
            <a:off x="269297" y="4683340"/>
            <a:ext cx="731290" cy="307777"/>
          </a:xfrm>
          <a:prstGeom prst="rect">
            <a:avLst/>
          </a:prstGeom>
          <a:noFill/>
        </p:spPr>
        <p:txBody>
          <a:bodyPr wrap="none" rtlCol="0">
            <a:spAutoFit/>
          </a:bodyPr>
          <a:lstStyle/>
          <a:p>
            <a:r>
              <a:rPr lang="fr-FR" dirty="0">
                <a:latin typeface="Footlight MT Light" panose="0204060206030A020304" pitchFamily="18" charset="0"/>
              </a:rPr>
              <a:t>SMI-S6</a:t>
            </a:r>
          </a:p>
        </p:txBody>
      </p:sp>
    </p:spTree>
    <p:extLst>
      <p:ext uri="{BB962C8B-B14F-4D97-AF65-F5344CB8AC3E}">
        <p14:creationId xmlns:p14="http://schemas.microsoft.com/office/powerpoint/2010/main" val="12393909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4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RESOURCES</a:t>
            </a:r>
            <a:endParaRPr dirty="0"/>
          </a:p>
        </p:txBody>
      </p:sp>
      <p:sp>
        <p:nvSpPr>
          <p:cNvPr id="595" name="Google Shape;595;p46"/>
          <p:cNvSpPr txBox="1">
            <a:spLocks noGrp="1"/>
          </p:cNvSpPr>
          <p:nvPr>
            <p:ph type="body" idx="1"/>
          </p:nvPr>
        </p:nvSpPr>
        <p:spPr>
          <a:xfrm>
            <a:off x="720000" y="1325725"/>
            <a:ext cx="7704000" cy="2653800"/>
          </a:xfrm>
          <a:prstGeom prst="rect">
            <a:avLst/>
          </a:prstGeom>
        </p:spPr>
        <p:txBody>
          <a:bodyPr spcFirstLastPara="1" wrap="square" lIns="91425" tIns="91425" rIns="91425" bIns="91425" anchor="t" anchorCtr="0">
            <a:noAutofit/>
          </a:bodyPr>
          <a:lstStyle/>
          <a:p>
            <a:pPr marL="0" lvl="0" indent="0" algn="l" rtl="0">
              <a:spcBef>
                <a:spcPts val="1000"/>
              </a:spcBef>
              <a:spcAft>
                <a:spcPts val="0"/>
              </a:spcAft>
              <a:buNone/>
            </a:pPr>
            <a:r>
              <a:rPr lang="en" sz="2300" dirty="0">
                <a:solidFill>
                  <a:schemeClr val="dk1"/>
                </a:solidFill>
                <a:latin typeface="Syne"/>
                <a:ea typeface="Syne"/>
                <a:cs typeface="Syne"/>
                <a:sym typeface="Syne"/>
              </a:rPr>
              <a:t>PHOTOS</a:t>
            </a:r>
          </a:p>
          <a:p>
            <a:pPr marL="0" lvl="0" indent="0">
              <a:spcBef>
                <a:spcPts val="1000"/>
              </a:spcBef>
              <a:buNone/>
            </a:pPr>
            <a:r>
              <a:rPr lang="fr-FR" dirty="0">
                <a:latin typeface="Comic Sans MS" panose="030F0702030302020204" pitchFamily="66" charset="0"/>
              </a:rPr>
              <a:t>Les images intégrées dans cette présentation ont été obtenues à partir du site "</a:t>
            </a:r>
            <a:r>
              <a:rPr lang="fr-FR" dirty="0" err="1">
                <a:latin typeface="Comic Sans MS" panose="030F0702030302020204" pitchFamily="66" charset="0"/>
              </a:rPr>
              <a:t>Yandex</a:t>
            </a:r>
            <a:r>
              <a:rPr lang="fr-FR" dirty="0">
                <a:latin typeface="Comic Sans MS" panose="030F0702030302020204" pitchFamily="66" charset="0"/>
              </a:rPr>
              <a:t>".</a:t>
            </a:r>
            <a:endParaRPr lang="en" dirty="0">
              <a:solidFill>
                <a:schemeClr val="dk1"/>
              </a:solidFill>
              <a:latin typeface="Comic Sans MS" panose="030F0702030302020204" pitchFamily="66" charset="0"/>
              <a:ea typeface="Syne"/>
              <a:cs typeface="Syne"/>
              <a:sym typeface="Syne"/>
            </a:endParaRPr>
          </a:p>
          <a:p>
            <a:pPr lvl="0">
              <a:spcBef>
                <a:spcPts val="1000"/>
              </a:spcBef>
              <a:buClr>
                <a:schemeClr val="dk1"/>
              </a:buClr>
            </a:pPr>
            <a:r>
              <a:rPr lang="en-US" u="sng" dirty="0">
                <a:solidFill>
                  <a:schemeClr val="dk1"/>
                </a:solidFill>
              </a:rPr>
              <a:t>https://www.yandex.com/</a:t>
            </a:r>
            <a:endParaRPr u="sng" dirty="0">
              <a:solidFill>
                <a:schemeClr val="dk1"/>
              </a:solidFill>
            </a:endParaRPr>
          </a:p>
        </p:txBody>
      </p:sp>
      <p:cxnSp>
        <p:nvCxnSpPr>
          <p:cNvPr id="596" name="Google Shape;596;p46"/>
          <p:cNvCxnSpPr/>
          <p:nvPr/>
        </p:nvCxnSpPr>
        <p:spPr>
          <a:xfrm>
            <a:off x="1950" y="44702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597" name="Google Shape;597;p46"/>
          <p:cNvCxnSpPr/>
          <p:nvPr/>
        </p:nvCxnSpPr>
        <p:spPr>
          <a:xfrm>
            <a:off x="1950" y="114707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598" name="Google Shape;598;p46"/>
          <p:cNvCxnSpPr/>
          <p:nvPr/>
        </p:nvCxnSpPr>
        <p:spPr>
          <a:xfrm>
            <a:off x="1950" y="4608500"/>
            <a:ext cx="9139800" cy="0"/>
          </a:xfrm>
          <a:prstGeom prst="straightConnector1">
            <a:avLst/>
          </a:prstGeom>
          <a:noFill/>
          <a:ln w="9525" cap="flat" cmpd="sng">
            <a:solidFill>
              <a:schemeClr val="dk1"/>
            </a:solidFill>
            <a:prstDash val="solid"/>
            <a:round/>
            <a:headEnd type="none" w="med" len="med"/>
            <a:tailEnd type="none" w="med" len="med"/>
          </a:ln>
        </p:spPr>
      </p:cxnSp>
      <p:sp>
        <p:nvSpPr>
          <p:cNvPr id="2" name="TextBox 1">
            <a:extLst>
              <a:ext uri="{FF2B5EF4-FFF2-40B4-BE49-F238E27FC236}">
                <a16:creationId xmlns:a16="http://schemas.microsoft.com/office/drawing/2014/main" id="{9450E8A9-2B45-D0A5-A231-9299126F4BD3}"/>
              </a:ext>
            </a:extLst>
          </p:cNvPr>
          <p:cNvSpPr txBox="1"/>
          <p:nvPr/>
        </p:nvSpPr>
        <p:spPr>
          <a:xfrm>
            <a:off x="8483109" y="4683340"/>
            <a:ext cx="660891" cy="307777"/>
          </a:xfrm>
          <a:prstGeom prst="rect">
            <a:avLst/>
          </a:prstGeom>
          <a:noFill/>
        </p:spPr>
        <p:txBody>
          <a:bodyPr wrap="square" rtlCol="0">
            <a:spAutoFit/>
          </a:bodyPr>
          <a:lstStyle/>
          <a:p>
            <a:r>
              <a:rPr lang="fr-FR" dirty="0"/>
              <a:t>23</a:t>
            </a:r>
            <a:endParaRPr lang="fr-CH" dirty="0"/>
          </a:p>
        </p:txBody>
      </p:sp>
      <p:sp>
        <p:nvSpPr>
          <p:cNvPr id="8" name="ZoneTexte 7"/>
          <p:cNvSpPr txBox="1"/>
          <p:nvPr/>
        </p:nvSpPr>
        <p:spPr>
          <a:xfrm>
            <a:off x="3179702" y="4683340"/>
            <a:ext cx="2784296" cy="307777"/>
          </a:xfrm>
          <a:prstGeom prst="rect">
            <a:avLst/>
          </a:prstGeom>
          <a:noFill/>
        </p:spPr>
        <p:txBody>
          <a:bodyPr wrap="square" rtlCol="0">
            <a:spAutoFit/>
          </a:bodyPr>
          <a:lstStyle/>
          <a:p>
            <a:pPr algn="ctr"/>
            <a:r>
              <a:rPr lang="fr-FR" dirty="0">
                <a:latin typeface="Footlight MT Light" panose="0204060206030A020304" pitchFamily="18" charset="0"/>
              </a:rPr>
              <a:t>PFE: Détection des émotions</a:t>
            </a:r>
          </a:p>
        </p:txBody>
      </p:sp>
      <p:sp>
        <p:nvSpPr>
          <p:cNvPr id="9" name="ZoneTexte 8"/>
          <p:cNvSpPr txBox="1"/>
          <p:nvPr/>
        </p:nvSpPr>
        <p:spPr>
          <a:xfrm>
            <a:off x="269297" y="4683340"/>
            <a:ext cx="731290" cy="307777"/>
          </a:xfrm>
          <a:prstGeom prst="rect">
            <a:avLst/>
          </a:prstGeom>
          <a:noFill/>
        </p:spPr>
        <p:txBody>
          <a:bodyPr wrap="none" rtlCol="0">
            <a:spAutoFit/>
          </a:bodyPr>
          <a:lstStyle/>
          <a:p>
            <a:r>
              <a:rPr lang="fr-FR" dirty="0">
                <a:latin typeface="Footlight MT Light" panose="0204060206030A020304" pitchFamily="18" charset="0"/>
              </a:rPr>
              <a:t>SMI-S6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1" name="Google Shape;271;p33"/>
          <p:cNvSpPr txBox="1">
            <a:spLocks noGrp="1"/>
          </p:cNvSpPr>
          <p:nvPr>
            <p:ph type="subTitle" idx="1"/>
          </p:nvPr>
        </p:nvSpPr>
        <p:spPr>
          <a:xfrm>
            <a:off x="485339" y="1415143"/>
            <a:ext cx="8506261" cy="3193357"/>
          </a:xfrm>
          <a:prstGeom prst="rect">
            <a:avLst/>
          </a:prstGeom>
        </p:spPr>
        <p:txBody>
          <a:bodyPr spcFirstLastPara="1" wrap="square" lIns="91425" tIns="91425" rIns="91425" bIns="91425" anchor="t" anchorCtr="0">
            <a:noAutofit/>
          </a:bodyPr>
          <a:lstStyle/>
          <a:p>
            <a:pPr marL="0" indent="0" algn="just">
              <a:lnSpc>
                <a:spcPct val="200000"/>
              </a:lnSpc>
            </a:pPr>
            <a:r>
              <a:rPr lang="en-US" sz="5400" dirty="0"/>
              <a:t>Merci de </a:t>
            </a:r>
            <a:r>
              <a:rPr lang="en-US" sz="5400" dirty="0" err="1"/>
              <a:t>votre</a:t>
            </a:r>
            <a:r>
              <a:rPr lang="en-US" sz="5400" dirty="0"/>
              <a:t> attention</a:t>
            </a:r>
            <a:endParaRPr lang="fr-FR" sz="5400" dirty="0"/>
          </a:p>
        </p:txBody>
      </p:sp>
      <p:cxnSp>
        <p:nvCxnSpPr>
          <p:cNvPr id="283" name="Google Shape;283;p33"/>
          <p:cNvCxnSpPr/>
          <p:nvPr/>
        </p:nvCxnSpPr>
        <p:spPr>
          <a:xfrm>
            <a:off x="1950" y="44702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4" name="Google Shape;284;p33"/>
          <p:cNvCxnSpPr/>
          <p:nvPr/>
        </p:nvCxnSpPr>
        <p:spPr>
          <a:xfrm>
            <a:off x="1950" y="1147075"/>
            <a:ext cx="9139800" cy="0"/>
          </a:xfrm>
          <a:prstGeom prst="straightConnector1">
            <a:avLst/>
          </a:prstGeom>
          <a:noFill/>
          <a:ln w="9525" cap="flat" cmpd="sng">
            <a:solidFill>
              <a:schemeClr val="dk1"/>
            </a:solidFill>
            <a:prstDash val="solid"/>
            <a:round/>
            <a:headEnd type="none" w="med" len="med"/>
            <a:tailEnd type="none" w="med" len="med"/>
          </a:ln>
        </p:spPr>
      </p:cxnSp>
      <p:cxnSp>
        <p:nvCxnSpPr>
          <p:cNvPr id="285" name="Google Shape;285;p33"/>
          <p:cNvCxnSpPr/>
          <p:nvPr/>
        </p:nvCxnSpPr>
        <p:spPr>
          <a:xfrm>
            <a:off x="1950" y="4608500"/>
            <a:ext cx="9139800" cy="0"/>
          </a:xfrm>
          <a:prstGeom prst="straightConnector1">
            <a:avLst/>
          </a:prstGeom>
          <a:noFill/>
          <a:ln w="9525" cap="flat" cmpd="sng">
            <a:solidFill>
              <a:schemeClr val="dk1"/>
            </a:solidFill>
            <a:prstDash val="solid"/>
            <a:round/>
            <a:headEnd type="none" w="med" len="med"/>
            <a:tailEnd type="none" w="med" len="med"/>
          </a:ln>
        </p:spPr>
      </p:cxnSp>
      <p:pic>
        <p:nvPicPr>
          <p:cNvPr id="3" name="Imag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2480949824"/>
      </p:ext>
    </p:extLst>
  </p:cSld>
  <p:clrMapOvr>
    <a:masterClrMapping/>
  </p:clrMapOvr>
</p:sld>
</file>

<file path=ppt/theme/theme1.xml><?xml version="1.0" encoding="utf-8"?>
<a:theme xmlns:a="http://schemas.openxmlformats.org/drawingml/2006/main" name="Lyme Treatment Breakthrough by Slidesgo">
  <a:themeElements>
    <a:clrScheme name="Simple Light">
      <a:dk1>
        <a:srgbClr val="000000"/>
      </a:dk1>
      <a:lt1>
        <a:srgbClr val="E9E6E2"/>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1164</TotalTime>
  <Words>1316</Words>
  <Application>Microsoft Office PowerPoint</Application>
  <PresentationFormat>On-screen Show (16:9)</PresentationFormat>
  <Paragraphs>203</Paragraphs>
  <Slides>25</Slides>
  <Notes>25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Inter</vt:lpstr>
      <vt:lpstr>Bebas Neue</vt:lpstr>
      <vt:lpstr>Wingdings</vt:lpstr>
      <vt:lpstr>Syne</vt:lpstr>
      <vt:lpstr>Andalus</vt:lpstr>
      <vt:lpstr>Cambria Math</vt:lpstr>
      <vt:lpstr>Arial</vt:lpstr>
      <vt:lpstr>Comic Sans MS</vt:lpstr>
      <vt:lpstr>Footlight MT Light</vt:lpstr>
      <vt:lpstr>Lyme Treatment Breakthrough by Slidesgo</vt:lpstr>
      <vt:lpstr>Détection des émotions </vt:lpstr>
      <vt:lpstr>Plan</vt:lpstr>
      <vt:lpstr>Introduction</vt:lpstr>
      <vt:lpstr>2. Méthodologie de travail</vt:lpstr>
      <vt:lpstr>2. Méthodologie de travail</vt:lpstr>
      <vt:lpstr>2. Méthodologie de travail</vt:lpstr>
      <vt:lpstr>2. Méthodologie de travail</vt:lpstr>
      <vt:lpstr>2. Méthodologie de travail</vt:lpstr>
      <vt:lpstr>2. Méthodologie de travail</vt:lpstr>
      <vt:lpstr>2. Méthodologie de travail</vt:lpstr>
      <vt:lpstr>2. Méthodologie de travail</vt:lpstr>
      <vt:lpstr>2. Méthodologie de travail</vt:lpstr>
      <vt:lpstr>2. Méthodologie de travail</vt:lpstr>
      <vt:lpstr>3. Implémentation</vt:lpstr>
      <vt:lpstr>3. Implémentation</vt:lpstr>
      <vt:lpstr>3. Implémentation</vt:lpstr>
      <vt:lpstr>3. Implémentation</vt:lpstr>
      <vt:lpstr>3. Implémentation</vt:lpstr>
      <vt:lpstr>3. Implémentation</vt:lpstr>
      <vt:lpstr>3. Implémentation</vt:lpstr>
      <vt:lpstr>3. Implémentation</vt:lpstr>
      <vt:lpstr>3. Implémentation</vt:lpstr>
      <vt:lpstr>4. Conclusion</vt:lpstr>
      <vt:lpstr>RESOURCES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Détection des émotions  en utilisant les réseaux de neurones convolutifs</dc:title>
  <cp:lastModifiedBy>User</cp:lastModifiedBy>
  <cp:revision>104</cp:revision>
  <dcterms:modified xsi:type="dcterms:W3CDTF">2024-05-15T07:58:14Z</dcterms:modified>
</cp:coreProperties>
</file>